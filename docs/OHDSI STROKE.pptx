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18"/>
  </p:notesMasterIdLst>
  <p:sldIdLst>
    <p:sldId id="256" r:id="rId2"/>
    <p:sldId id="257" r:id="rId3"/>
    <p:sldId id="262" r:id="rId4"/>
    <p:sldId id="258" r:id="rId5"/>
    <p:sldId id="259" r:id="rId6"/>
    <p:sldId id="260" r:id="rId7"/>
    <p:sldId id="261" r:id="rId8"/>
    <p:sldId id="263" r:id="rId9"/>
    <p:sldId id="264" r:id="rId10"/>
    <p:sldId id="265" r:id="rId11"/>
    <p:sldId id="266" r:id="rId12"/>
    <p:sldId id="267" r:id="rId13"/>
    <p:sldId id="268" r:id="rId14"/>
    <p:sldId id="271"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750D78-58B8-4D30-970A-01037DD52873}" v="4" dt="2025-10-23T21:11:41.3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693" autoAdjust="0"/>
    <p:restoredTop sz="94701"/>
  </p:normalViewPr>
  <p:slideViewPr>
    <p:cSldViewPr snapToGrid="0">
      <p:cViewPr>
        <p:scale>
          <a:sx n="235" d="100"/>
          <a:sy n="235" d="100"/>
        </p:scale>
        <p:origin x="-2120" y="-2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F19DCA-D5DC-4768-A555-0EC1119A79A6}" type="datetimeFigureOut">
              <a:rPr lang="en-US" smtClean="0"/>
              <a:t>10/23/25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64E55C-1B24-4155-9B13-924876B57286}" type="slidenum">
              <a:rPr lang="en-US" smtClean="0"/>
              <a:t>‹#›</a:t>
            </a:fld>
            <a:endParaRPr lang="en-US"/>
          </a:p>
        </p:txBody>
      </p:sp>
    </p:spTree>
    <p:extLst>
      <p:ext uri="{BB962C8B-B14F-4D97-AF65-F5344CB8AC3E}">
        <p14:creationId xmlns:p14="http://schemas.microsoft.com/office/powerpoint/2010/main" val="450640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ohdsi.github.io/CommonDataModel/cdm54.htm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Occurring every 40 seconds and often leading to long-term disability that affects both quality of life and independence</a:t>
            </a:r>
          </a:p>
          <a:p>
            <a:pPr marL="171450" indent="-171450">
              <a:buFont typeface="Arial" panose="020B0604020202020204" pitchFamily="34" charset="0"/>
              <a:buChar char="•"/>
            </a:pPr>
            <a:r>
              <a:rPr lang="en-US" dirty="0"/>
              <a:t>Aphasia is a language impairment that makes it difficult to speak, understand, read, or write, creating significant communication barriers with healthcare providers</a:t>
            </a:r>
          </a:p>
          <a:p>
            <a:pPr marL="171450" indent="-171450">
              <a:buFont typeface="Arial" panose="020B0604020202020204" pitchFamily="34" charset="0"/>
              <a:buChar char="•"/>
            </a:pPr>
            <a:r>
              <a:rPr lang="en-US" dirty="0"/>
              <a:t>(PIMs), such as sedatives, anticholinergics, and antipsychotics that may negatively impact stroke recovery and cognitive function. Because mental health conditions are frequently underdiagnosed in patients with aphasia, inappropriate prescribing may be even more prevalent in this population. </a:t>
            </a:r>
          </a:p>
        </p:txBody>
      </p:sp>
      <p:sp>
        <p:nvSpPr>
          <p:cNvPr id="4" name="Slide Number Placeholder 3"/>
          <p:cNvSpPr>
            <a:spLocks noGrp="1"/>
          </p:cNvSpPr>
          <p:nvPr>
            <p:ph type="sldNum" sz="quarter" idx="5"/>
          </p:nvPr>
        </p:nvSpPr>
        <p:spPr/>
        <p:txBody>
          <a:bodyPr/>
          <a:lstStyle/>
          <a:p>
            <a:fld id="{0264E55C-1B24-4155-9B13-924876B57286}" type="slidenum">
              <a:rPr lang="en-US" smtClean="0"/>
              <a:t>2</a:t>
            </a:fld>
            <a:endParaRPr lang="en-US"/>
          </a:p>
        </p:txBody>
      </p:sp>
    </p:spTree>
    <p:extLst>
      <p:ext uri="{BB962C8B-B14F-4D97-AF65-F5344CB8AC3E}">
        <p14:creationId xmlns:p14="http://schemas.microsoft.com/office/powerpoint/2010/main" val="3936927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will use the OHDSI Lab </a:t>
            </a:r>
            <a:r>
              <a:rPr lang="en-US" dirty="0" err="1"/>
              <a:t>Pharmetrics</a:t>
            </a:r>
            <a:r>
              <a:rPr lang="en-US" dirty="0"/>
              <a:t>+ data at Northeastern. The </a:t>
            </a:r>
            <a:r>
              <a:rPr lang="en-US" dirty="0" err="1"/>
              <a:t>Pharmetrics</a:t>
            </a:r>
            <a:r>
              <a:rPr lang="en-US" dirty="0"/>
              <a:t>+ data era includes about 31 million patient-lives in a 5-year window, with 16 million individuals who have at least 1 year of continuous observation. The data are structured using the OMOP Common Data Model (</a:t>
            </a:r>
            <a:r>
              <a:rPr lang="en-US" dirty="0">
                <a:hlinkClick r:id="rId3"/>
              </a:rPr>
              <a:t>https://ohdsi.github.io/CommonDataModel/cdm54.html</a:t>
            </a:r>
            <a:r>
              <a:rPr lang="en-US" dirty="0"/>
              <a:t>), which is well documented but complex.</a:t>
            </a:r>
          </a:p>
        </p:txBody>
      </p:sp>
      <p:sp>
        <p:nvSpPr>
          <p:cNvPr id="4" name="Slide Number Placeholder 3"/>
          <p:cNvSpPr>
            <a:spLocks noGrp="1"/>
          </p:cNvSpPr>
          <p:nvPr>
            <p:ph type="sldNum" sz="quarter" idx="5"/>
          </p:nvPr>
        </p:nvSpPr>
        <p:spPr/>
        <p:txBody>
          <a:bodyPr/>
          <a:lstStyle/>
          <a:p>
            <a:fld id="{0264E55C-1B24-4155-9B13-924876B57286}" type="slidenum">
              <a:rPr lang="en-US" smtClean="0"/>
              <a:t>4</a:t>
            </a:fld>
            <a:endParaRPr lang="en-US"/>
          </a:p>
        </p:txBody>
      </p:sp>
    </p:spTree>
    <p:extLst>
      <p:ext uri="{BB962C8B-B14F-4D97-AF65-F5344CB8AC3E}">
        <p14:creationId xmlns:p14="http://schemas.microsoft.com/office/powerpoint/2010/main" val="564575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risk of stroke increases as the populations ages, but there is clearly an outlier around the year 1937 when looking at the chart below. This is due to the fact that there are not enough of a population born before that year to hide the identity of the individuals to the standard that OHDSI holds. This leads to there not being a good way to dig insights based on granular age since there is a large </a:t>
            </a:r>
            <a:r>
              <a:rPr lang="en-US" dirty="0" err="1"/>
              <a:t>mahority</a:t>
            </a:r>
            <a:r>
              <a:rPr lang="en-US" dirty="0"/>
              <a:t> of the cohort who's age has been obfuscated. If age will be taken into consideration, then binning will be </a:t>
            </a:r>
            <a:r>
              <a:rPr lang="en-US" dirty="0" err="1"/>
              <a:t>necesary</a:t>
            </a:r>
            <a:r>
              <a:rPr lang="en-US" dirty="0"/>
              <a:t>.</a:t>
            </a:r>
          </a:p>
          <a:p>
            <a:endParaRPr lang="en-US" dirty="0"/>
          </a:p>
        </p:txBody>
      </p:sp>
      <p:sp>
        <p:nvSpPr>
          <p:cNvPr id="4" name="Slide Number Placeholder 3"/>
          <p:cNvSpPr>
            <a:spLocks noGrp="1"/>
          </p:cNvSpPr>
          <p:nvPr>
            <p:ph type="sldNum" sz="quarter" idx="5"/>
          </p:nvPr>
        </p:nvSpPr>
        <p:spPr/>
        <p:txBody>
          <a:bodyPr/>
          <a:lstStyle/>
          <a:p>
            <a:fld id="{0264E55C-1B24-4155-9B13-924876B57286}" type="slidenum">
              <a:rPr lang="en-US" smtClean="0"/>
              <a:t>7</a:t>
            </a:fld>
            <a:endParaRPr lang="en-US"/>
          </a:p>
        </p:txBody>
      </p:sp>
    </p:spTree>
    <p:extLst>
      <p:ext uri="{BB962C8B-B14F-4D97-AF65-F5344CB8AC3E}">
        <p14:creationId xmlns:p14="http://schemas.microsoft.com/office/powerpoint/2010/main" val="1330477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it comes to gender there is a pretty even mix of genders until age increases to some of the older patients where it started to lean heavily towards female.</a:t>
            </a:r>
          </a:p>
        </p:txBody>
      </p:sp>
      <p:sp>
        <p:nvSpPr>
          <p:cNvPr id="4" name="Slide Number Placeholder 3"/>
          <p:cNvSpPr>
            <a:spLocks noGrp="1"/>
          </p:cNvSpPr>
          <p:nvPr>
            <p:ph type="sldNum" sz="quarter" idx="5"/>
          </p:nvPr>
        </p:nvSpPr>
        <p:spPr/>
        <p:txBody>
          <a:bodyPr/>
          <a:lstStyle/>
          <a:p>
            <a:fld id="{0264E55C-1B24-4155-9B13-924876B57286}" type="slidenum">
              <a:rPr lang="en-US" smtClean="0"/>
              <a:t>8</a:t>
            </a:fld>
            <a:endParaRPr lang="en-US"/>
          </a:p>
        </p:txBody>
      </p:sp>
    </p:spTree>
    <p:extLst>
      <p:ext uri="{BB962C8B-B14F-4D97-AF65-F5344CB8AC3E}">
        <p14:creationId xmlns:p14="http://schemas.microsoft.com/office/powerpoint/2010/main" val="1702903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chart below shows that there is a wealth of data from some states while there is close to none in other. This could have many </a:t>
            </a:r>
            <a:r>
              <a:rPr lang="en-US" dirty="0" err="1"/>
              <a:t>explinations</a:t>
            </a:r>
            <a:r>
              <a:rPr lang="en-US" dirty="0"/>
              <a:t>. Some states might have greater healthcare coverage. Also, some states might have more access to care. Furthermore, some doctors might do a better job reporting and have closer ties to OHDSI and the data collection they did.</a:t>
            </a:r>
          </a:p>
          <a:p>
            <a:endParaRPr lang="en-US" dirty="0"/>
          </a:p>
        </p:txBody>
      </p:sp>
      <p:sp>
        <p:nvSpPr>
          <p:cNvPr id="4" name="Slide Number Placeholder 3"/>
          <p:cNvSpPr>
            <a:spLocks noGrp="1"/>
          </p:cNvSpPr>
          <p:nvPr>
            <p:ph type="sldNum" sz="quarter" idx="5"/>
          </p:nvPr>
        </p:nvSpPr>
        <p:spPr/>
        <p:txBody>
          <a:bodyPr/>
          <a:lstStyle/>
          <a:p>
            <a:fld id="{0264E55C-1B24-4155-9B13-924876B57286}" type="slidenum">
              <a:rPr lang="en-US" smtClean="0"/>
              <a:t>9</a:t>
            </a:fld>
            <a:endParaRPr lang="en-US"/>
          </a:p>
        </p:txBody>
      </p:sp>
    </p:spTree>
    <p:extLst>
      <p:ext uri="{BB962C8B-B14F-4D97-AF65-F5344CB8AC3E}">
        <p14:creationId xmlns:p14="http://schemas.microsoft.com/office/powerpoint/2010/main" val="5575343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looking at the raw data it seems like there are some conditions that are very rare for our cohort, that being bipolar, psychotic, </a:t>
            </a:r>
            <a:r>
              <a:rPr lang="en-US" dirty="0" err="1"/>
              <a:t>ptsd</a:t>
            </a:r>
            <a:r>
              <a:rPr lang="en-US" dirty="0"/>
              <a:t>, and schizophrenia. This makes sense since these conditions are rare in the population as well. The one shocking thing from this exploration was that there were a </a:t>
            </a:r>
            <a:r>
              <a:rPr lang="en-US" dirty="0" err="1"/>
              <a:t>supprisingly</a:t>
            </a:r>
            <a:r>
              <a:rPr lang="en-US" dirty="0"/>
              <a:t> high amount of the population who were flagged for polypharmacy, which is defined as having 5 or more substances in a 6 month timeframe before or after surgery.</a:t>
            </a:r>
          </a:p>
        </p:txBody>
      </p:sp>
      <p:sp>
        <p:nvSpPr>
          <p:cNvPr id="4" name="Slide Number Placeholder 3"/>
          <p:cNvSpPr>
            <a:spLocks noGrp="1"/>
          </p:cNvSpPr>
          <p:nvPr>
            <p:ph type="sldNum" sz="quarter" idx="5"/>
          </p:nvPr>
        </p:nvSpPr>
        <p:spPr/>
        <p:txBody>
          <a:bodyPr/>
          <a:lstStyle/>
          <a:p>
            <a:fld id="{0264E55C-1B24-4155-9B13-924876B57286}" type="slidenum">
              <a:rPr lang="en-US" smtClean="0"/>
              <a:t>10</a:t>
            </a:fld>
            <a:endParaRPr lang="en-US"/>
          </a:p>
        </p:txBody>
      </p:sp>
    </p:spTree>
    <p:extLst>
      <p:ext uri="{BB962C8B-B14F-4D97-AF65-F5344CB8AC3E}">
        <p14:creationId xmlns:p14="http://schemas.microsoft.com/office/powerpoint/2010/main" val="2664829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hard to compare nine different conditions to each other. The first step to try to get a bigger picture was to create a co-</a:t>
            </a:r>
            <a:r>
              <a:rPr lang="en-US" dirty="0" err="1"/>
              <a:t>occurence</a:t>
            </a:r>
            <a:r>
              <a:rPr lang="en-US" dirty="0"/>
              <a:t> graph. This graph sees how many times both flags were seen in the same person. As seen from the dark blue square: depression is commonly seen with polypharmacy as well as with anxiety, with 9118 and 7483 people in common. There are also a fair amount crossover between anxiety and aphasia which is interesting.</a:t>
            </a:r>
          </a:p>
        </p:txBody>
      </p:sp>
      <p:sp>
        <p:nvSpPr>
          <p:cNvPr id="4" name="Slide Number Placeholder 3"/>
          <p:cNvSpPr>
            <a:spLocks noGrp="1"/>
          </p:cNvSpPr>
          <p:nvPr>
            <p:ph type="sldNum" sz="quarter" idx="5"/>
          </p:nvPr>
        </p:nvSpPr>
        <p:spPr/>
        <p:txBody>
          <a:bodyPr/>
          <a:lstStyle/>
          <a:p>
            <a:fld id="{0264E55C-1B24-4155-9B13-924876B57286}" type="slidenum">
              <a:rPr lang="en-US" smtClean="0"/>
              <a:t>11</a:t>
            </a:fld>
            <a:endParaRPr lang="en-US"/>
          </a:p>
        </p:txBody>
      </p:sp>
    </p:spTree>
    <p:extLst>
      <p:ext uri="{BB962C8B-B14F-4D97-AF65-F5344CB8AC3E}">
        <p14:creationId xmlns:p14="http://schemas.microsoft.com/office/powerpoint/2010/main" val="412320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width of each segment, called a chord, represents strong relationships. The outer ring represents the proportion of the total as well as the start and target of each chord. It is hard to make out, but polypharmacy has chords connecting to all of the other conditions with its connection to anxiety and depression being the highest.</a:t>
            </a:r>
          </a:p>
        </p:txBody>
      </p:sp>
      <p:sp>
        <p:nvSpPr>
          <p:cNvPr id="4" name="Slide Number Placeholder 3"/>
          <p:cNvSpPr>
            <a:spLocks noGrp="1"/>
          </p:cNvSpPr>
          <p:nvPr>
            <p:ph type="sldNum" sz="quarter" idx="5"/>
          </p:nvPr>
        </p:nvSpPr>
        <p:spPr/>
        <p:txBody>
          <a:bodyPr/>
          <a:lstStyle/>
          <a:p>
            <a:fld id="{0264E55C-1B24-4155-9B13-924876B57286}" type="slidenum">
              <a:rPr lang="en-US" smtClean="0"/>
              <a:t>12</a:t>
            </a:fld>
            <a:endParaRPr lang="en-US"/>
          </a:p>
        </p:txBody>
      </p:sp>
    </p:spTree>
    <p:extLst>
      <p:ext uri="{BB962C8B-B14F-4D97-AF65-F5344CB8AC3E}">
        <p14:creationId xmlns:p14="http://schemas.microsoft.com/office/powerpoint/2010/main" val="36324808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graph with aphasia appears to show that seizures have a stronger relationship to the other conditions, including polypharmacy. This makes sense due to there being more seizures with a population that has aphasia which would imply more medications.</a:t>
            </a:r>
          </a:p>
          <a:p>
            <a:endParaRPr lang="en-US" dirty="0"/>
          </a:p>
        </p:txBody>
      </p:sp>
      <p:sp>
        <p:nvSpPr>
          <p:cNvPr id="4" name="Slide Number Placeholder 3"/>
          <p:cNvSpPr>
            <a:spLocks noGrp="1"/>
          </p:cNvSpPr>
          <p:nvPr>
            <p:ph type="sldNum" sz="quarter" idx="5"/>
          </p:nvPr>
        </p:nvSpPr>
        <p:spPr/>
        <p:txBody>
          <a:bodyPr/>
          <a:lstStyle/>
          <a:p>
            <a:fld id="{0264E55C-1B24-4155-9B13-924876B57286}" type="slidenum">
              <a:rPr lang="en-US" smtClean="0"/>
              <a:t>13</a:t>
            </a:fld>
            <a:endParaRPr lang="en-US"/>
          </a:p>
        </p:txBody>
      </p:sp>
    </p:spTree>
    <p:extLst>
      <p:ext uri="{BB962C8B-B14F-4D97-AF65-F5344CB8AC3E}">
        <p14:creationId xmlns:p14="http://schemas.microsoft.com/office/powerpoint/2010/main" val="3358951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10" name="Freeform 6" title="Page Number Shape">
            <a:extLst>
              <a:ext uri="{FF2B5EF4-FFF2-40B4-BE49-F238E27FC236}">
                <a16:creationId xmlns:a16="http://schemas.microsoft.com/office/drawing/2014/main" id="{DD4C4B28-6B4B-4445-8535-F516D74E4AA9}"/>
              </a:ext>
            </a:extLst>
          </p:cNvPr>
          <p:cNvSpPr/>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12" name="Straight Connector 11" title="Verticle Rule Line">
            <a:extLst>
              <a:ext uri="{FF2B5EF4-FFF2-40B4-BE49-F238E27FC236}">
                <a16:creationId xmlns:a16="http://schemas.microsoft.com/office/drawing/2014/main" id="{0CB1C732-7193-4253-8746-850D090A6B4E}"/>
              </a:ext>
            </a:extLst>
          </p:cNvPr>
          <p:cNvCxnSpPr>
            <a:cxnSpLocks/>
          </p:cNvCxnSpPr>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03AA199-952B-427F-A5BE-B97D25FD0733}"/>
              </a:ext>
            </a:extLst>
          </p:cNvPr>
          <p:cNvSpPr>
            <a:spLocks noGrp="1"/>
          </p:cNvSpPr>
          <p:nvPr>
            <p:ph type="ctrTitle"/>
          </p:nvPr>
        </p:nvSpPr>
        <p:spPr>
          <a:xfrm>
            <a:off x="1078992" y="1143000"/>
            <a:ext cx="6720840" cy="3730752"/>
          </a:xfrm>
        </p:spPr>
        <p:txBody>
          <a:bodyPr anchor="t">
            <a:normAutofit/>
          </a:bodyPr>
          <a:lstStyle>
            <a:lvl1pPr algn="l">
              <a:defRPr sz="72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A1AA393-A876-475F-A05B-1CCAB6C1F089}"/>
              </a:ext>
            </a:extLst>
          </p:cNvPr>
          <p:cNvSpPr>
            <a:spLocks noGrp="1"/>
          </p:cNvSpPr>
          <p:nvPr>
            <p:ph type="subTitle" idx="1"/>
          </p:nvPr>
        </p:nvSpPr>
        <p:spPr>
          <a:xfrm>
            <a:off x="1078992" y="5010912"/>
            <a:ext cx="6720840" cy="704088"/>
          </a:xfrm>
        </p:spPr>
        <p:txBody>
          <a:bodyPr>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3395621-D631-4F31-AEEF-C8574E507372}"/>
              </a:ext>
            </a:extLst>
          </p:cNvPr>
          <p:cNvSpPr>
            <a:spLocks noGrp="1"/>
          </p:cNvSpPr>
          <p:nvPr>
            <p:ph type="dt" sz="half" idx="10"/>
          </p:nvPr>
        </p:nvSpPr>
        <p:spPr>
          <a:xfrm>
            <a:off x="8286356" y="6007608"/>
            <a:ext cx="3143643" cy="365125"/>
          </a:xfrm>
        </p:spPr>
        <p:txBody>
          <a:bodyPr/>
          <a:lstStyle/>
          <a:p>
            <a:fld id="{53BEF823-48A5-43FC-BE03-E79964288B41}" type="datetimeFigureOut">
              <a:rPr lang="en-US" smtClean="0"/>
              <a:t>10/23/25</a:t>
            </a:fld>
            <a:endParaRPr lang="en-US" dirty="0"/>
          </a:p>
        </p:txBody>
      </p:sp>
      <p:sp>
        <p:nvSpPr>
          <p:cNvPr id="5" name="Footer Placeholder 4">
            <a:extLst>
              <a:ext uri="{FF2B5EF4-FFF2-40B4-BE49-F238E27FC236}">
                <a16:creationId xmlns:a16="http://schemas.microsoft.com/office/drawing/2014/main" id="{305EE125-77AD-4E23-AFB7-C5CFDEACACF1}"/>
              </a:ext>
            </a:extLst>
          </p:cNvPr>
          <p:cNvSpPr>
            <a:spLocks noGrp="1"/>
          </p:cNvSpPr>
          <p:nvPr>
            <p:ph type="ftr" sz="quarter" idx="11"/>
          </p:nvPr>
        </p:nvSpPr>
        <p:spPr>
          <a:xfrm>
            <a:off x="1078991" y="6007608"/>
            <a:ext cx="6720837" cy="365125"/>
          </a:xfrm>
        </p:spPr>
        <p:txBody>
          <a:bodyPr/>
          <a:lstStyle/>
          <a:p>
            <a:endParaRPr lang="en-US" dirty="0"/>
          </a:p>
        </p:txBody>
      </p:sp>
      <p:sp>
        <p:nvSpPr>
          <p:cNvPr id="6" name="Slide Number Placeholder 5">
            <a:extLst>
              <a:ext uri="{FF2B5EF4-FFF2-40B4-BE49-F238E27FC236}">
                <a16:creationId xmlns:a16="http://schemas.microsoft.com/office/drawing/2014/main" id="{DC569682-B530-4F52-87B9-39464A0930B3}"/>
              </a:ext>
            </a:extLst>
          </p:cNvPr>
          <p:cNvSpPr>
            <a:spLocks noGrp="1"/>
          </p:cNvSpPr>
          <p:nvPr>
            <p:ph type="sldNum" sz="quarter" idx="12"/>
          </p:nvPr>
        </p:nvSpPr>
        <p:spPr/>
        <p:txBody>
          <a:bodyPr/>
          <a:lstStyle>
            <a:lvl1pPr algn="ctr">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92912269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51BD-5252-4168-A69E-C6864AE29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748EEE-19C9-493B-836D-73B9E4A0B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A6BFE-11ED-4FB4-9F65-508B5B0F0DD3}"/>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8" name="Footer Placeholder 7">
            <a:extLst>
              <a:ext uri="{FF2B5EF4-FFF2-40B4-BE49-F238E27FC236}">
                <a16:creationId xmlns:a16="http://schemas.microsoft.com/office/drawing/2014/main" id="{F90F536E-BEFF-4E0D-B4EC-39DE28C67CC3}"/>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36EE02AF-6FE1-4972-BD48-A82499AD67F6}"/>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9121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52EE-D9FC-4E51-9BFF-141F9192339F}"/>
              </a:ext>
            </a:extLst>
          </p:cNvPr>
          <p:cNvSpPr>
            <a:spLocks noGrp="1"/>
          </p:cNvSpPr>
          <p:nvPr>
            <p:ph type="title"/>
          </p:nvPr>
        </p:nvSpPr>
        <p:spPr>
          <a:xfrm>
            <a:off x="763051" y="2414016"/>
            <a:ext cx="10666949" cy="3099816"/>
          </a:xfrm>
        </p:spPr>
        <p:txBody>
          <a:bodyPr anchor="t"/>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1E086C4-4949-4E7A-A182-6709496A1C38}"/>
              </a:ext>
            </a:extLst>
          </p:cNvPr>
          <p:cNvSpPr>
            <a:spLocks noGrp="1"/>
          </p:cNvSpPr>
          <p:nvPr>
            <p:ph type="body" idx="1"/>
          </p:nvPr>
        </p:nvSpPr>
        <p:spPr>
          <a:xfrm>
            <a:off x="758952" y="1389888"/>
            <a:ext cx="10671048" cy="822960"/>
          </a:xfrm>
        </p:spPr>
        <p:txBody>
          <a:bodyPr anchor="ctr">
            <a:normAutofit/>
          </a:bodyPr>
          <a:lstStyle>
            <a:lvl1pPr marL="0" indent="0">
              <a:buNone/>
              <a:defRPr sz="2000" i="1">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3D12BC88-6A2B-4851-9568-23A4B74D9F98}"/>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8" name="Footer Placeholder 7">
            <a:extLst>
              <a:ext uri="{FF2B5EF4-FFF2-40B4-BE49-F238E27FC236}">
                <a16:creationId xmlns:a16="http://schemas.microsoft.com/office/drawing/2014/main" id="{D882CFE5-65C3-4F46-9141-4645455947D2}"/>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5321B390-4E13-4481-AC02-FF126656C4C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506490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0E02F8-47BB-4D30-8EFE-69C9222D9EC4}"/>
              </a:ext>
            </a:extLst>
          </p:cNvPr>
          <p:cNvSpPr>
            <a:spLocks noGrp="1"/>
          </p:cNvSpPr>
          <p:nvPr>
            <p:ph sz="half" idx="1"/>
          </p:nvPr>
        </p:nvSpPr>
        <p:spPr>
          <a:xfrm>
            <a:off x="5184648" y="758952"/>
            <a:ext cx="6245352" cy="224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A844D33-6BF0-4205-A542-8537E3515938}"/>
              </a:ext>
            </a:extLst>
          </p:cNvPr>
          <p:cNvSpPr>
            <a:spLocks noGrp="1"/>
          </p:cNvSpPr>
          <p:nvPr>
            <p:ph sz="half" idx="2"/>
          </p:nvPr>
        </p:nvSpPr>
        <p:spPr>
          <a:xfrm>
            <a:off x="5184647" y="3273551"/>
            <a:ext cx="6245351" cy="22402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D6953A83-D2BE-4015-8D64-BE93DDFE5D21}"/>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10" name="Footer Placeholder 9">
            <a:extLst>
              <a:ext uri="{FF2B5EF4-FFF2-40B4-BE49-F238E27FC236}">
                <a16:creationId xmlns:a16="http://schemas.microsoft.com/office/drawing/2014/main" id="{BA849E67-05F9-4033-B033-74D6B8C8E77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DFAAC6AA-CFFB-438F-9327-DDB023E2E14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5" name="Title 4">
            <a:extLst>
              <a:ext uri="{FF2B5EF4-FFF2-40B4-BE49-F238E27FC236}">
                <a16:creationId xmlns:a16="http://schemas.microsoft.com/office/drawing/2014/main" id="{BA4960CB-ABA7-4442-AB15-FE444F23C6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67257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348291-9C7D-407E-8D07-FA3A323EA973}"/>
              </a:ext>
            </a:extLst>
          </p:cNvPr>
          <p:cNvSpPr>
            <a:spLocks noGrp="1"/>
          </p:cNvSpPr>
          <p:nvPr>
            <p:ph type="body" idx="1"/>
          </p:nvPr>
        </p:nvSpPr>
        <p:spPr>
          <a:xfrm>
            <a:off x="5184648" y="758952"/>
            <a:ext cx="6245352"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192D2-8BA6-4A4D-814D-AD37A2A10AC8}"/>
              </a:ext>
            </a:extLst>
          </p:cNvPr>
          <p:cNvSpPr>
            <a:spLocks noGrp="1"/>
          </p:cNvSpPr>
          <p:nvPr>
            <p:ph sz="half" idx="2"/>
          </p:nvPr>
        </p:nvSpPr>
        <p:spPr>
          <a:xfrm>
            <a:off x="5190323" y="1377198"/>
            <a:ext cx="6239675"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6FD4BC-C948-41C4-BA24-5D26147E1C97}"/>
              </a:ext>
            </a:extLst>
          </p:cNvPr>
          <p:cNvSpPr>
            <a:spLocks noGrp="1"/>
          </p:cNvSpPr>
          <p:nvPr>
            <p:ph type="body" sz="quarter" idx="3"/>
          </p:nvPr>
        </p:nvSpPr>
        <p:spPr>
          <a:xfrm>
            <a:off x="5184647" y="3319548"/>
            <a:ext cx="6245351"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2E359C-F73D-4F1B-9F9A-6D628567105D}"/>
              </a:ext>
            </a:extLst>
          </p:cNvPr>
          <p:cNvSpPr>
            <a:spLocks noGrp="1"/>
          </p:cNvSpPr>
          <p:nvPr>
            <p:ph sz="quarter" idx="4"/>
          </p:nvPr>
        </p:nvSpPr>
        <p:spPr>
          <a:xfrm>
            <a:off x="5184646" y="3932372"/>
            <a:ext cx="6245352"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a:extLst>
              <a:ext uri="{FF2B5EF4-FFF2-40B4-BE49-F238E27FC236}">
                <a16:creationId xmlns:a16="http://schemas.microsoft.com/office/drawing/2014/main" id="{D76B63AE-38FF-40DD-A543-32DD98E6BDB2}"/>
              </a:ext>
            </a:extLst>
          </p:cNvPr>
          <p:cNvSpPr>
            <a:spLocks noGrp="1"/>
          </p:cNvSpPr>
          <p:nvPr>
            <p:ph type="title"/>
          </p:nvPr>
        </p:nvSpPr>
        <p:spPr/>
        <p:txBody>
          <a:bodyPr/>
          <a:lstStyle/>
          <a:p>
            <a:r>
              <a:rPr lang="en-US"/>
              <a:t>Click to edit Master title style</a:t>
            </a:r>
            <a:endParaRPr lang="en-US" dirty="0"/>
          </a:p>
        </p:txBody>
      </p:sp>
      <p:sp>
        <p:nvSpPr>
          <p:cNvPr id="12" name="Date Placeholder 11">
            <a:extLst>
              <a:ext uri="{FF2B5EF4-FFF2-40B4-BE49-F238E27FC236}">
                <a16:creationId xmlns:a16="http://schemas.microsoft.com/office/drawing/2014/main" id="{C686C0EB-E082-4BAB-99E8-B42F3C28B20F}"/>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13" name="Footer Placeholder 12">
            <a:extLst>
              <a:ext uri="{FF2B5EF4-FFF2-40B4-BE49-F238E27FC236}">
                <a16:creationId xmlns:a16="http://schemas.microsoft.com/office/drawing/2014/main" id="{B3CB0152-BA1F-48C7-A66F-3ADB51C94B97}"/>
              </a:ext>
            </a:extLst>
          </p:cNvPr>
          <p:cNvSpPr>
            <a:spLocks noGrp="1"/>
          </p:cNvSpPr>
          <p:nvPr>
            <p:ph type="ftr" sz="quarter" idx="11"/>
          </p:nvPr>
        </p:nvSpPr>
        <p:spPr/>
        <p:txBody>
          <a:bodyPr/>
          <a:lstStyle/>
          <a:p>
            <a:pPr algn="l"/>
            <a:endParaRPr lang="en-US" dirty="0"/>
          </a:p>
        </p:txBody>
      </p:sp>
      <p:sp>
        <p:nvSpPr>
          <p:cNvPr id="14" name="Slide Number Placeholder 13">
            <a:extLst>
              <a:ext uri="{FF2B5EF4-FFF2-40B4-BE49-F238E27FC236}">
                <a16:creationId xmlns:a16="http://schemas.microsoft.com/office/drawing/2014/main" id="{BD1C21B3-5CF6-415F-8295-EED3DF5CB55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302925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70D5-4EB9-4410-A8AE-6D85F19239FF}"/>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5887FB59-BA77-4864-B9E8-994851250CB4}"/>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7" name="Footer Placeholder 6">
            <a:extLst>
              <a:ext uri="{FF2B5EF4-FFF2-40B4-BE49-F238E27FC236}">
                <a16:creationId xmlns:a16="http://schemas.microsoft.com/office/drawing/2014/main" id="{B6F0BC0B-BA67-455B-B567-1473DF0628BE}"/>
              </a:ext>
            </a:extLst>
          </p:cNvPr>
          <p:cNvSpPr>
            <a:spLocks noGrp="1"/>
          </p:cNvSpPr>
          <p:nvPr>
            <p:ph type="ftr" sz="quarter" idx="11"/>
          </p:nvPr>
        </p:nvSpPr>
        <p:spPr/>
        <p:txBody>
          <a:bodyPr/>
          <a:lstStyle/>
          <a:p>
            <a:pPr algn="l"/>
            <a:endParaRPr lang="en-US" dirty="0"/>
          </a:p>
        </p:txBody>
      </p:sp>
      <p:sp>
        <p:nvSpPr>
          <p:cNvPr id="8" name="Slide Number Placeholder 7">
            <a:extLst>
              <a:ext uri="{FF2B5EF4-FFF2-40B4-BE49-F238E27FC236}">
                <a16:creationId xmlns:a16="http://schemas.microsoft.com/office/drawing/2014/main" id="{2CF0BCF3-6FB5-4529-AA6A-A31467351EF5}"/>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206498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BF1315B-6865-4A5A-91C1-B75339038903}"/>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6" name="Footer Placeholder 5">
            <a:extLst>
              <a:ext uri="{FF2B5EF4-FFF2-40B4-BE49-F238E27FC236}">
                <a16:creationId xmlns:a16="http://schemas.microsoft.com/office/drawing/2014/main" id="{DD536720-08C7-43DE-8EB5-CAB52D0E96B1}"/>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6D2477AF-B012-491C-AE42-22DE1203BE8D}"/>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151205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183AC-72A9-43F5-A1B3-1D7A6A4C7EEB}"/>
              </a:ext>
            </a:extLst>
          </p:cNvPr>
          <p:cNvSpPr>
            <a:spLocks noGrp="1"/>
          </p:cNvSpPr>
          <p:nvPr>
            <p:ph idx="1"/>
          </p:nvPr>
        </p:nvSpPr>
        <p:spPr>
          <a:xfrm>
            <a:off x="5183188" y="758951"/>
            <a:ext cx="6245352" cy="4754881"/>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4045592-52ED-4270-ACBB-BCC528DAC407}"/>
              </a:ext>
            </a:extLst>
          </p:cNvPr>
          <p:cNvSpPr>
            <a:spLocks noGrp="1"/>
          </p:cNvSpPr>
          <p:nvPr>
            <p:ph type="body" sz="half" idx="2"/>
          </p:nvPr>
        </p:nvSpPr>
        <p:spPr>
          <a:xfrm>
            <a:off x="758953" y="3815080"/>
            <a:ext cx="3831336" cy="169875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99A93518-F9B5-418F-9883-BEF8359B045A}"/>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10" name="Footer Placeholder 9">
            <a:extLst>
              <a:ext uri="{FF2B5EF4-FFF2-40B4-BE49-F238E27FC236}">
                <a16:creationId xmlns:a16="http://schemas.microsoft.com/office/drawing/2014/main" id="{27B9FFE7-C4AB-425B-9B56-E412C72212A0}"/>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59231052-EBA8-4781-B28A-2FEA8BE523F3}"/>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CBDBF9E7-F686-4FA1-9BA5-69BDD014B0D3}"/>
              </a:ext>
            </a:extLst>
          </p:cNvPr>
          <p:cNvSpPr>
            <a:spLocks noGrp="1"/>
          </p:cNvSpPr>
          <p:nvPr>
            <p:ph type="title"/>
          </p:nvPr>
        </p:nvSpPr>
        <p:spPr>
          <a:xfrm>
            <a:off x="758952" y="758952"/>
            <a:ext cx="3831336" cy="2930179"/>
          </a:xfrm>
        </p:spPr>
        <p:txBody>
          <a:bodyPr/>
          <a:lstStyle/>
          <a:p>
            <a:r>
              <a:rPr lang="en-US"/>
              <a:t>Click to edit Master title style</a:t>
            </a:r>
            <a:endParaRPr lang="en-US" dirty="0"/>
          </a:p>
        </p:txBody>
      </p:sp>
    </p:spTree>
    <p:extLst>
      <p:ext uri="{BB962C8B-B14F-4D97-AF65-F5344CB8AC3E}">
        <p14:creationId xmlns:p14="http://schemas.microsoft.com/office/powerpoint/2010/main" val="4004940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16CF06-B27C-4DC4-981D-38E31997BD16}"/>
              </a:ext>
            </a:extLst>
          </p:cNvPr>
          <p:cNvSpPr>
            <a:spLocks noGrp="1"/>
          </p:cNvSpPr>
          <p:nvPr>
            <p:ph type="pic" idx="1"/>
          </p:nvPr>
        </p:nvSpPr>
        <p:spPr>
          <a:xfrm>
            <a:off x="5183188" y="758951"/>
            <a:ext cx="6245352" cy="4754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1976E66-2CB3-4F47-97F6-077C42818316}"/>
              </a:ext>
            </a:extLst>
          </p:cNvPr>
          <p:cNvSpPr>
            <a:spLocks noGrp="1"/>
          </p:cNvSpPr>
          <p:nvPr>
            <p:ph type="body" sz="half" idx="2"/>
          </p:nvPr>
        </p:nvSpPr>
        <p:spPr>
          <a:xfrm>
            <a:off x="758952" y="3794760"/>
            <a:ext cx="3831336" cy="1719072"/>
          </a:xfrm>
        </p:spPr>
        <p:txBody>
          <a:bodyPr>
            <a:normAutofit/>
          </a:bodyPr>
          <a:lstStyle>
            <a:lvl1pPr marL="0" indent="0">
              <a:buNone/>
              <a:defRPr sz="20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71414C9F-CBBD-4D5E-A831-BC0CDFEBCEF3}"/>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10" name="Footer Placeholder 9">
            <a:extLst>
              <a:ext uri="{FF2B5EF4-FFF2-40B4-BE49-F238E27FC236}">
                <a16:creationId xmlns:a16="http://schemas.microsoft.com/office/drawing/2014/main" id="{F58DC0C8-B580-442D-8DAC-4F0F869B1F1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1B0D29E8-DFEE-49AB-83AF-85FF25252A3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D0EAAF1B-6B6E-4D37-8F57-E403C6371A00}"/>
              </a:ext>
            </a:extLst>
          </p:cNvPr>
          <p:cNvSpPr>
            <a:spLocks noGrp="1"/>
          </p:cNvSpPr>
          <p:nvPr>
            <p:ph type="title"/>
          </p:nvPr>
        </p:nvSpPr>
        <p:spPr>
          <a:xfrm>
            <a:off x="758952" y="758952"/>
            <a:ext cx="3831336" cy="2926080"/>
          </a:xfrm>
        </p:spPr>
        <p:txBody>
          <a:bodyPr/>
          <a:lstStyle/>
          <a:p>
            <a:r>
              <a:rPr lang="en-US"/>
              <a:t>Click to edit Master title style</a:t>
            </a:r>
            <a:endParaRPr lang="en-US" dirty="0"/>
          </a:p>
        </p:txBody>
      </p:sp>
    </p:spTree>
    <p:extLst>
      <p:ext uri="{BB962C8B-B14F-4D97-AF65-F5344CB8AC3E}">
        <p14:creationId xmlns:p14="http://schemas.microsoft.com/office/powerpoint/2010/main" val="1717898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9FCF-ACDF-495D-ACFA-15FCAC9EA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3786E3-AB17-427E-8EF8-7FCB671A11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3B4E9-7A16-448C-8BE6-B14941A34857}"/>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8" name="Footer Placeholder 7">
            <a:extLst>
              <a:ext uri="{FF2B5EF4-FFF2-40B4-BE49-F238E27FC236}">
                <a16:creationId xmlns:a16="http://schemas.microsoft.com/office/drawing/2014/main" id="{579212F5-5835-49FF-836F-5E3008A0EDB1}"/>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DE9D492B-E5EE-4D24-A087-57D739CFACE8}"/>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361577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31E395-94BD-4E79-8E42-9CD4EB33CA60}"/>
              </a:ext>
            </a:extLst>
          </p:cNvPr>
          <p:cNvSpPr>
            <a:spLocks noGrp="1"/>
          </p:cNvSpPr>
          <p:nvPr>
            <p:ph type="title" orient="vert"/>
          </p:nvPr>
        </p:nvSpPr>
        <p:spPr>
          <a:xfrm>
            <a:off x="8475542" y="758952"/>
            <a:ext cx="2954458" cy="4986002"/>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79AA8A4-66BC-4E80-ABE3-F533F82B88CA}"/>
              </a:ext>
            </a:extLst>
          </p:cNvPr>
          <p:cNvSpPr>
            <a:spLocks noGrp="1"/>
          </p:cNvSpPr>
          <p:nvPr>
            <p:ph type="body" orient="vert" idx="1"/>
          </p:nvPr>
        </p:nvSpPr>
        <p:spPr>
          <a:xfrm>
            <a:off x="758952" y="758952"/>
            <a:ext cx="7407586" cy="49860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DDA4EA6-6A1A-48ED-9D79-A438561C7E79}"/>
              </a:ext>
            </a:extLst>
          </p:cNvPr>
          <p:cNvSpPr>
            <a:spLocks noGrp="1"/>
          </p:cNvSpPr>
          <p:nvPr>
            <p:ph type="dt" sz="half" idx="10"/>
          </p:nvPr>
        </p:nvSpPr>
        <p:spPr/>
        <p:txBody>
          <a:bodyPr/>
          <a:lstStyle/>
          <a:p>
            <a:pPr algn="r"/>
            <a:fld id="{53BEF823-48A5-43FC-BE03-E79964288B41}" type="datetimeFigureOut">
              <a:rPr lang="en-US" smtClean="0"/>
              <a:pPr algn="r"/>
              <a:t>10/23/25</a:t>
            </a:fld>
            <a:endParaRPr lang="en-US" dirty="0"/>
          </a:p>
        </p:txBody>
      </p:sp>
      <p:sp>
        <p:nvSpPr>
          <p:cNvPr id="8" name="Footer Placeholder 7">
            <a:extLst>
              <a:ext uri="{FF2B5EF4-FFF2-40B4-BE49-F238E27FC236}">
                <a16:creationId xmlns:a16="http://schemas.microsoft.com/office/drawing/2014/main" id="{F049B2BA-9250-4EBF-8820-10BDA5C1C62B}"/>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1F914475-55F3-4C46-BAE2-E4D93E9E3781}"/>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944734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6" title="Page Number Shape">
            <a:extLst>
              <a:ext uri="{FF2B5EF4-FFF2-40B4-BE49-F238E27FC236}">
                <a16:creationId xmlns:a16="http://schemas.microsoft.com/office/drawing/2014/main" id="{72411438-92A5-42B0-9C54-EA4FB32ACB5E}"/>
              </a:ext>
            </a:extLst>
          </p:cNvPr>
          <p:cNvSpPr/>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p:nvSpPr>
          <p:cNvPr id="2" name="Title Placeholder 1">
            <a:extLst>
              <a:ext uri="{FF2B5EF4-FFF2-40B4-BE49-F238E27FC236}">
                <a16:creationId xmlns:a16="http://schemas.microsoft.com/office/drawing/2014/main" id="{0D56E4D8-47B6-4DEC-BD29-B3B6ED4CC739}"/>
              </a:ext>
            </a:extLst>
          </p:cNvPr>
          <p:cNvSpPr>
            <a:spLocks noGrp="1"/>
          </p:cNvSpPr>
          <p:nvPr>
            <p:ph type="title"/>
          </p:nvPr>
        </p:nvSpPr>
        <p:spPr>
          <a:xfrm>
            <a:off x="758952" y="758952"/>
            <a:ext cx="3831336" cy="47548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F0F5D4C-4873-4052-A294-99CCB9421C4A}"/>
              </a:ext>
            </a:extLst>
          </p:cNvPr>
          <p:cNvSpPr>
            <a:spLocks noGrp="1"/>
          </p:cNvSpPr>
          <p:nvPr>
            <p:ph type="body" idx="1"/>
          </p:nvPr>
        </p:nvSpPr>
        <p:spPr>
          <a:xfrm>
            <a:off x="5184648" y="758952"/>
            <a:ext cx="6245352" cy="47548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41D62B3-3490-46B4-A10E-33FCE4A1FBB5}"/>
              </a:ext>
            </a:extLst>
          </p:cNvPr>
          <p:cNvSpPr>
            <a:spLocks noGrp="1"/>
          </p:cNvSpPr>
          <p:nvPr>
            <p:ph type="dt" sz="half" idx="2"/>
          </p:nvPr>
        </p:nvSpPr>
        <p:spPr>
          <a:xfrm>
            <a:off x="7616952" y="6007608"/>
            <a:ext cx="3813048" cy="365125"/>
          </a:xfrm>
          <a:prstGeom prst="rect">
            <a:avLst/>
          </a:prstGeom>
        </p:spPr>
        <p:txBody>
          <a:bodyPr vert="horz" lIns="91440" tIns="45720" rIns="91440" bIns="45720" rtlCol="0" anchor="ctr"/>
          <a:lstStyle>
            <a:lvl1pPr algn="r">
              <a:defRPr sz="1000" spc="50" baseline="0">
                <a:solidFill>
                  <a:schemeClr val="tx1">
                    <a:lumMod val="85000"/>
                    <a:lumOff val="15000"/>
                  </a:schemeClr>
                </a:solidFill>
              </a:defRPr>
            </a:lvl1pPr>
          </a:lstStyle>
          <a:p>
            <a:pPr algn="r"/>
            <a:fld id="{53BEF823-48A5-43FC-BE03-E79964288B41}" type="datetimeFigureOut">
              <a:rPr lang="en-US" smtClean="0"/>
              <a:pPr algn="r"/>
              <a:t>10/23/25</a:t>
            </a:fld>
            <a:endParaRPr lang="en-US" dirty="0"/>
          </a:p>
        </p:txBody>
      </p:sp>
      <p:sp>
        <p:nvSpPr>
          <p:cNvPr id="5" name="Footer Placeholder 4">
            <a:extLst>
              <a:ext uri="{FF2B5EF4-FFF2-40B4-BE49-F238E27FC236}">
                <a16:creationId xmlns:a16="http://schemas.microsoft.com/office/drawing/2014/main" id="{97424CB1-7D5F-4F52-9F99-7068F5819E8C}"/>
              </a:ext>
            </a:extLst>
          </p:cNvPr>
          <p:cNvSpPr>
            <a:spLocks noGrp="1"/>
          </p:cNvSpPr>
          <p:nvPr>
            <p:ph type="ftr" sz="quarter" idx="3"/>
          </p:nvPr>
        </p:nvSpPr>
        <p:spPr>
          <a:xfrm>
            <a:off x="758952" y="6007608"/>
            <a:ext cx="3831336" cy="365125"/>
          </a:xfrm>
          <a:prstGeom prst="rect">
            <a:avLst/>
          </a:prstGeom>
        </p:spPr>
        <p:txBody>
          <a:bodyPr vert="horz" lIns="91440" tIns="45720" rIns="91440" bIns="45720" rtlCol="0" anchor="ctr"/>
          <a:lstStyle>
            <a:lvl1pPr algn="l">
              <a:defRPr sz="1000" spc="50" baseline="0">
                <a:solidFill>
                  <a:schemeClr val="tx1">
                    <a:lumMod val="85000"/>
                    <a:lumOff val="15000"/>
                  </a:schemeClr>
                </a:solidFill>
              </a:defRPr>
            </a:lvl1pPr>
          </a:lstStyle>
          <a:p>
            <a:pPr algn="l"/>
            <a:endParaRPr lang="en-US" dirty="0"/>
          </a:p>
        </p:txBody>
      </p:sp>
      <p:sp>
        <p:nvSpPr>
          <p:cNvPr id="6" name="Slide Number Placeholder 5">
            <a:extLst>
              <a:ext uri="{FF2B5EF4-FFF2-40B4-BE49-F238E27FC236}">
                <a16:creationId xmlns:a16="http://schemas.microsoft.com/office/drawing/2014/main" id="{1A1F9CC9-1431-4569-B2F1-D04814955381}"/>
              </a:ext>
            </a:extLst>
          </p:cNvPr>
          <p:cNvSpPr>
            <a:spLocks noGrp="1"/>
          </p:cNvSpPr>
          <p:nvPr>
            <p:ph type="sldNum" sz="quarter" idx="4"/>
          </p:nvPr>
        </p:nvSpPr>
        <p:spPr>
          <a:xfrm>
            <a:off x="11786616" y="6007608"/>
            <a:ext cx="411480" cy="365125"/>
          </a:xfrm>
          <a:prstGeom prst="rect">
            <a:avLst/>
          </a:prstGeom>
        </p:spPr>
        <p:txBody>
          <a:bodyPr vert="horz" lIns="45720" tIns="45720" rIns="45720" bIns="45720" rtlCol="0" anchor="ctr"/>
          <a:lstStyle>
            <a:lvl1pPr algn="r">
              <a:defRPr sz="900" b="1">
                <a:solidFill>
                  <a:schemeClr val="bg1"/>
                </a:solidFill>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428845700"/>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44" r:id="rId6"/>
    <p:sldLayoutId id="2147483740" r:id="rId7"/>
    <p:sldLayoutId id="2147483741" r:id="rId8"/>
    <p:sldLayoutId id="2147483742" r:id="rId9"/>
    <p:sldLayoutId id="2147483743" r:id="rId10"/>
    <p:sldLayoutId id="2147483745" r:id="rId11"/>
  </p:sldLayoutIdLst>
  <p:txStyles>
    <p:title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p:titleStyle>
    <p:body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ohdsi.github.io/CommonDataModel/cdm54.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ds5500/project-alex-riz-NE/tree/main" TargetMode="External"/><Relationship Id="rId2" Type="http://schemas.openxmlformats.org/officeDocument/2006/relationships/hyperlink" Target="https://about.citiprogram.or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olorful patterns on the sky">
            <a:extLst>
              <a:ext uri="{FF2B5EF4-FFF2-40B4-BE49-F238E27FC236}">
                <a16:creationId xmlns:a16="http://schemas.microsoft.com/office/drawing/2014/main" id="{BB4BBBD3-2DD3-F3C2-F2AC-77252B81C18D}"/>
              </a:ext>
            </a:extLst>
          </p:cNvPr>
          <p:cNvPicPr>
            <a:picLocks noChangeAspect="1"/>
          </p:cNvPicPr>
          <p:nvPr/>
        </p:nvPicPr>
        <p:blipFill>
          <a:blip r:embed="rId2"/>
          <a:srcRect t="5538" b="10193"/>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9FBB9AF1-CE92-475C-A47B-5FC32922B3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0"/>
            <a:ext cx="12191999" cy="6858000"/>
          </a:xfrm>
          <a:prstGeom prst="rect">
            <a:avLst/>
          </a:prstGeom>
          <a:gradFill flip="none" rotWithShape="1">
            <a:gsLst>
              <a:gs pos="100000">
                <a:srgbClr val="000000">
                  <a:alpha val="0"/>
                </a:srgbClr>
              </a:gs>
              <a:gs pos="30000">
                <a:srgbClr val="00000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8831AF2-A64B-C59C-654C-92B8F9FA221B}"/>
              </a:ext>
            </a:extLst>
          </p:cNvPr>
          <p:cNvSpPr>
            <a:spLocks noGrp="1"/>
          </p:cNvSpPr>
          <p:nvPr>
            <p:ph type="ctrTitle"/>
          </p:nvPr>
        </p:nvSpPr>
        <p:spPr>
          <a:xfrm>
            <a:off x="1078992" y="1143000"/>
            <a:ext cx="9052560" cy="3546179"/>
          </a:xfrm>
        </p:spPr>
        <p:txBody>
          <a:bodyPr>
            <a:normAutofit fontScale="90000"/>
          </a:bodyPr>
          <a:lstStyle/>
          <a:p>
            <a:r>
              <a:rPr lang="en-US" b="1" dirty="0"/>
              <a:t>OHDSI STROKE</a:t>
            </a:r>
            <a:br>
              <a:rPr lang="en-US" b="1" dirty="0"/>
            </a:br>
            <a:r>
              <a:rPr lang="en-US" sz="4000" b="1" dirty="0"/>
              <a:t>The relationship between stroke and aphasia survivors, mental health </a:t>
            </a:r>
            <a:r>
              <a:rPr lang="en-US" sz="4000" b="1" dirty="0" err="1"/>
              <a:t>conditons</a:t>
            </a:r>
            <a:r>
              <a:rPr lang="en-US" sz="4000" b="1" dirty="0"/>
              <a:t>, potentially inappropriate medicine and polypharmacy</a:t>
            </a:r>
            <a:br>
              <a:rPr lang="en-US" sz="4000" b="1" dirty="0"/>
            </a:br>
            <a:endParaRPr lang="en-US" dirty="0">
              <a:solidFill>
                <a:srgbClr val="FFFFFF"/>
              </a:solidFill>
            </a:endParaRPr>
          </a:p>
        </p:txBody>
      </p:sp>
      <p:sp>
        <p:nvSpPr>
          <p:cNvPr id="3" name="Subtitle 2">
            <a:extLst>
              <a:ext uri="{FF2B5EF4-FFF2-40B4-BE49-F238E27FC236}">
                <a16:creationId xmlns:a16="http://schemas.microsoft.com/office/drawing/2014/main" id="{2843A9EA-B1E0-050F-AE21-A4D50FB5C956}"/>
              </a:ext>
            </a:extLst>
          </p:cNvPr>
          <p:cNvSpPr>
            <a:spLocks noGrp="1"/>
          </p:cNvSpPr>
          <p:nvPr>
            <p:ph type="subTitle" idx="1"/>
          </p:nvPr>
        </p:nvSpPr>
        <p:spPr>
          <a:xfrm>
            <a:off x="1078992" y="5010912"/>
            <a:ext cx="9052560" cy="704088"/>
          </a:xfrm>
        </p:spPr>
        <p:txBody>
          <a:bodyPr>
            <a:normAutofit fontScale="85000" lnSpcReduction="20000"/>
          </a:bodyPr>
          <a:lstStyle/>
          <a:p>
            <a:r>
              <a:rPr lang="en-US" b="1" dirty="0"/>
              <a:t>Capstone Project Fall 2025</a:t>
            </a:r>
          </a:p>
          <a:p>
            <a:r>
              <a:rPr lang="en-US" dirty="0">
                <a:solidFill>
                  <a:srgbClr val="FFFFFF"/>
                </a:solidFill>
              </a:rPr>
              <a:t>By </a:t>
            </a:r>
            <a:r>
              <a:rPr lang="en-US" b="1" dirty="0"/>
              <a:t>Alex Rizvanov and Thang Nguyen</a:t>
            </a:r>
          </a:p>
        </p:txBody>
      </p:sp>
      <p:cxnSp>
        <p:nvCxnSpPr>
          <p:cNvPr id="13" name="Straight Connector 12">
            <a:extLst>
              <a:ext uri="{FF2B5EF4-FFF2-40B4-BE49-F238E27FC236}">
                <a16:creationId xmlns:a16="http://schemas.microsoft.com/office/drawing/2014/main" id="{D81E42A3-743C-4C15-9DA8-93AA9AEBFB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143293"/>
            <a:ext cx="0" cy="5714707"/>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15" name="Freeform 6">
            <a:extLst>
              <a:ext uri="{FF2B5EF4-FFF2-40B4-BE49-F238E27FC236}">
                <a16:creationId xmlns:a16="http://schemas.microsoft.com/office/drawing/2014/main" id="{7021D92D-08FF-45A6-9109-AC9462C7E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43293"/>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608265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D7736B-DE75-2205-9E72-BB15B133448F}"/>
              </a:ext>
            </a:extLst>
          </p:cNvPr>
          <p:cNvSpPr>
            <a:spLocks noGrp="1"/>
          </p:cNvSpPr>
          <p:nvPr>
            <p:ph type="title"/>
          </p:nvPr>
        </p:nvSpPr>
        <p:spPr>
          <a:xfrm>
            <a:off x="1068497" y="1063256"/>
            <a:ext cx="5312254" cy="1540106"/>
          </a:xfrm>
        </p:spPr>
        <p:txBody>
          <a:bodyPr>
            <a:normAutofit/>
          </a:bodyPr>
          <a:lstStyle/>
          <a:p>
            <a:r>
              <a:rPr lang="en-US"/>
              <a:t>Introduction</a:t>
            </a:r>
          </a:p>
        </p:txBody>
      </p:sp>
      <p:cxnSp>
        <p:nvCxnSpPr>
          <p:cNvPr id="26" name="Straight Connector 25">
            <a:extLst>
              <a:ext uri="{FF2B5EF4-FFF2-40B4-BE49-F238E27FC236}">
                <a16:creationId xmlns:a16="http://schemas.microsoft.com/office/drawing/2014/main" id="{33862825-C012-4895-A17E-F3D1F62D89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143293"/>
            <a:ext cx="0" cy="5714707"/>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73B6B72-D2B6-CD66-D530-69121B07048A}"/>
              </a:ext>
            </a:extLst>
          </p:cNvPr>
          <p:cNvSpPr>
            <a:spLocks noGrp="1"/>
          </p:cNvSpPr>
          <p:nvPr>
            <p:ph idx="1"/>
          </p:nvPr>
        </p:nvSpPr>
        <p:spPr>
          <a:xfrm>
            <a:off x="1068497" y="2933390"/>
            <a:ext cx="5312254" cy="2861349"/>
          </a:xfrm>
        </p:spPr>
        <p:txBody>
          <a:bodyPr>
            <a:normAutofit/>
          </a:bodyPr>
          <a:lstStyle/>
          <a:p>
            <a:pPr>
              <a:lnSpc>
                <a:spcPct val="100000"/>
              </a:lnSpc>
            </a:pPr>
            <a:r>
              <a:rPr lang="en-US" sz="1700"/>
              <a:t>A stroke is one of the most serious and costly health events in the United States</a:t>
            </a:r>
          </a:p>
          <a:p>
            <a:pPr>
              <a:lnSpc>
                <a:spcPct val="100000"/>
              </a:lnSpc>
            </a:pPr>
            <a:r>
              <a:rPr lang="en-US" sz="1700"/>
              <a:t>Among stroke survivors, up to 40 percent develop aphasia</a:t>
            </a:r>
          </a:p>
          <a:p>
            <a:pPr>
              <a:lnSpc>
                <a:spcPct val="100000"/>
              </a:lnSpc>
            </a:pPr>
            <a:r>
              <a:rPr lang="en-US" sz="1700"/>
              <a:t>These individuals typically undergo complex medical care involving multiple providers and medications, which increases the risk of polypharmacy and exposure to potentially inappropriate medications (PIMs)</a:t>
            </a:r>
          </a:p>
        </p:txBody>
      </p:sp>
      <p:sp>
        <p:nvSpPr>
          <p:cNvPr id="28" name="Freeform: Shape 27">
            <a:extLst>
              <a:ext uri="{FF2B5EF4-FFF2-40B4-BE49-F238E27FC236}">
                <a16:creationId xmlns:a16="http://schemas.microsoft.com/office/drawing/2014/main" id="{CAF8A158-E51E-4253-820B-3970F7397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76934" y="0"/>
            <a:ext cx="5215066" cy="6858000"/>
          </a:xfrm>
          <a:custGeom>
            <a:avLst/>
            <a:gdLst>
              <a:gd name="connsiteX0" fmla="*/ 2017353 w 5215066"/>
              <a:gd name="connsiteY0" fmla="*/ 0 h 6858000"/>
              <a:gd name="connsiteX1" fmla="*/ 5215066 w 5215066"/>
              <a:gd name="connsiteY1" fmla="*/ 0 h 6858000"/>
              <a:gd name="connsiteX2" fmla="*/ 5215066 w 5215066"/>
              <a:gd name="connsiteY2" fmla="*/ 6858000 h 6858000"/>
              <a:gd name="connsiteX3" fmla="*/ 1292431 w 5215066"/>
              <a:gd name="connsiteY3" fmla="*/ 6858000 h 6858000"/>
              <a:gd name="connsiteX4" fmla="*/ 1012702 w 5215066"/>
              <a:gd name="connsiteY4" fmla="*/ 6549681 h 6858000"/>
              <a:gd name="connsiteX5" fmla="*/ 0 w 5215066"/>
              <a:gd name="connsiteY5" fmla="*/ 3723759 h 6858000"/>
              <a:gd name="connsiteX6" fmla="*/ 1955279 w 5215066"/>
              <a:gd name="connsiteY6" fmla="*/ 3986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9" name="Picture 18" descr="A poster with different signs of different symptoms&#10;&#10;AI-generated content may be incorrect.">
            <a:extLst>
              <a:ext uri="{FF2B5EF4-FFF2-40B4-BE49-F238E27FC236}">
                <a16:creationId xmlns:a16="http://schemas.microsoft.com/office/drawing/2014/main" id="{6B43CFF3-8ADC-1F16-2AB2-8FA2EB8F94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7551" y="2415288"/>
            <a:ext cx="4277500" cy="2406093"/>
          </a:xfrm>
          <a:prstGeom prst="rect">
            <a:avLst/>
          </a:prstGeom>
        </p:spPr>
      </p:pic>
      <p:sp>
        <p:nvSpPr>
          <p:cNvPr id="30"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bg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134175877"/>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D824D-754E-6C42-8F52-1B4D33DE5697}"/>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Goal</a:t>
            </a:r>
          </a:p>
        </p:txBody>
      </p:sp>
      <p:sp>
        <p:nvSpPr>
          <p:cNvPr id="3" name="Content Placeholder 2">
            <a:extLst>
              <a:ext uri="{FF2B5EF4-FFF2-40B4-BE49-F238E27FC236}">
                <a16:creationId xmlns:a16="http://schemas.microsoft.com/office/drawing/2014/main" id="{7F3B02EC-6568-3A35-B3A2-EC651EAD50A4}"/>
              </a:ext>
            </a:extLst>
          </p:cNvPr>
          <p:cNvSpPr>
            <a:spLocks noGrp="1"/>
          </p:cNvSpPr>
          <p:nvPr>
            <p:ph idx="1"/>
          </p:nvPr>
        </p:nvSpPr>
        <p:spPr>
          <a:xfrm>
            <a:off x="758824" y="2607732"/>
            <a:ext cx="8412480" cy="3174357"/>
          </a:xfrm>
        </p:spPr>
        <p:txBody>
          <a:bodyPr>
            <a:normAutofit/>
          </a:bodyPr>
          <a:lstStyle/>
          <a:p>
            <a:r>
              <a:rPr lang="en-US" dirty="0"/>
              <a:t>This project aims to examine the prevalence of potentially inappropriate medicine (PIMs) in stroke survivors with aphasia.</a:t>
            </a:r>
          </a:p>
          <a:p>
            <a:r>
              <a:rPr lang="en-US" dirty="0"/>
              <a:t>To achieve our aims, we need to quantify PIMs related to mental health conditions and stroke recovery. </a:t>
            </a:r>
          </a:p>
          <a:p>
            <a:r>
              <a:rPr lang="en-US" dirty="0"/>
              <a:t>Lastly, we will investigate whether these medication patterns are associated with increased 30- or 90-day hospital readmissions, highlighting the need for safer and more targeted prescribing practices for this vulnerable group</a:t>
            </a:r>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pic>
        <p:nvPicPr>
          <p:cNvPr id="4" name="Picture 3">
            <a:extLst>
              <a:ext uri="{FF2B5EF4-FFF2-40B4-BE49-F238E27FC236}">
                <a16:creationId xmlns:a16="http://schemas.microsoft.com/office/drawing/2014/main" id="{ACCDEEC2-CC2A-7352-6717-2AC6FA8D8E4E}"/>
              </a:ext>
            </a:extLst>
          </p:cNvPr>
          <p:cNvPicPr>
            <a:picLocks noChangeAspect="1"/>
          </p:cNvPicPr>
          <p:nvPr/>
        </p:nvPicPr>
        <p:blipFill>
          <a:blip r:embed="rId2"/>
          <a:stretch>
            <a:fillRect/>
          </a:stretch>
        </p:blipFill>
        <p:spPr>
          <a:xfrm>
            <a:off x="7397558" y="164722"/>
            <a:ext cx="3547532" cy="1995487"/>
          </a:xfrm>
          <a:prstGeom prst="rect">
            <a:avLst/>
          </a:prstGeom>
        </p:spPr>
      </p:pic>
    </p:spTree>
    <p:extLst>
      <p:ext uri="{BB962C8B-B14F-4D97-AF65-F5344CB8AC3E}">
        <p14:creationId xmlns:p14="http://schemas.microsoft.com/office/powerpoint/2010/main" val="3119918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DF8278-6DAD-4D8C-7AEF-17FF987CEC02}"/>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Data</a:t>
            </a:r>
          </a:p>
        </p:txBody>
      </p:sp>
      <p:sp>
        <p:nvSpPr>
          <p:cNvPr id="3" name="Content Placeholder 2">
            <a:extLst>
              <a:ext uri="{FF2B5EF4-FFF2-40B4-BE49-F238E27FC236}">
                <a16:creationId xmlns:a16="http://schemas.microsoft.com/office/drawing/2014/main" id="{7B00B05F-44F6-2A89-FA14-3AE66489EEFB}"/>
              </a:ext>
            </a:extLst>
          </p:cNvPr>
          <p:cNvSpPr>
            <a:spLocks noGrp="1"/>
          </p:cNvSpPr>
          <p:nvPr>
            <p:ph idx="1"/>
          </p:nvPr>
        </p:nvSpPr>
        <p:spPr>
          <a:xfrm>
            <a:off x="758824" y="2607732"/>
            <a:ext cx="9167304" cy="3174357"/>
          </a:xfrm>
        </p:spPr>
        <p:txBody>
          <a:bodyPr>
            <a:normAutofit/>
          </a:bodyPr>
          <a:lstStyle/>
          <a:p>
            <a:r>
              <a:rPr lang="en-US" dirty="0"/>
              <a:t>The OHDSI (Observational Health Data Sciences and Informatics) dataset is a large-scale healthcare database that is standardized using the OMOP Common Data Model (CDM)</a:t>
            </a:r>
          </a:p>
          <a:p>
            <a:r>
              <a:rPr lang="en-US" dirty="0"/>
              <a:t>This project will use the OHDSI Lab </a:t>
            </a:r>
            <a:r>
              <a:rPr lang="en-US" dirty="0" err="1"/>
              <a:t>Pharmetrics</a:t>
            </a:r>
            <a:r>
              <a:rPr lang="en-US" dirty="0"/>
              <a:t>+ data at Northeastern</a:t>
            </a:r>
          </a:p>
          <a:p>
            <a:r>
              <a:rPr lang="en-US" dirty="0"/>
              <a:t>(</a:t>
            </a:r>
            <a:r>
              <a:rPr lang="en-US" dirty="0">
                <a:hlinkClick r:id="rId3"/>
              </a:rPr>
              <a:t>https://ohdsi.github.io/CommonDataModel/cdm54.html</a:t>
            </a:r>
            <a:r>
              <a:rPr lang="en-US" dirty="0"/>
              <a:t>)</a:t>
            </a:r>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pic>
        <p:nvPicPr>
          <p:cNvPr id="5" name="Picture 4" descr="A close-up of a logo&#10;&#10;AI-generated content may be incorrect.">
            <a:extLst>
              <a:ext uri="{FF2B5EF4-FFF2-40B4-BE49-F238E27FC236}">
                <a16:creationId xmlns:a16="http://schemas.microsoft.com/office/drawing/2014/main" id="{0E96D588-FB13-E5B7-AE7B-D44BA2AD5B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6271" y="4913601"/>
            <a:ext cx="4248150" cy="1076325"/>
          </a:xfrm>
          <a:prstGeom prst="rect">
            <a:avLst/>
          </a:prstGeom>
        </p:spPr>
      </p:pic>
    </p:spTree>
    <p:extLst>
      <p:ext uri="{BB962C8B-B14F-4D97-AF65-F5344CB8AC3E}">
        <p14:creationId xmlns:p14="http://schemas.microsoft.com/office/powerpoint/2010/main" val="1227427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B7FA64-8463-1CB5-59A4-EFDBBB2881FA}"/>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Stakeholder</a:t>
            </a:r>
          </a:p>
        </p:txBody>
      </p:sp>
      <p:sp>
        <p:nvSpPr>
          <p:cNvPr id="3" name="Content Placeholder 2">
            <a:extLst>
              <a:ext uri="{FF2B5EF4-FFF2-40B4-BE49-F238E27FC236}">
                <a16:creationId xmlns:a16="http://schemas.microsoft.com/office/drawing/2014/main" id="{42F93E9B-5820-E771-E4DB-F51B5D996D81}"/>
              </a:ext>
            </a:extLst>
          </p:cNvPr>
          <p:cNvSpPr>
            <a:spLocks noGrp="1"/>
          </p:cNvSpPr>
          <p:nvPr>
            <p:ph idx="1"/>
          </p:nvPr>
        </p:nvSpPr>
        <p:spPr>
          <a:xfrm>
            <a:off x="758824" y="2607732"/>
            <a:ext cx="8412480" cy="3174357"/>
          </a:xfrm>
        </p:spPr>
        <p:txBody>
          <a:bodyPr>
            <a:normAutofit/>
          </a:bodyPr>
          <a:lstStyle/>
          <a:p>
            <a:r>
              <a:rPr lang="en-US" dirty="0"/>
              <a:t>Rob Cavanaugh, PhD, CCC-SLP, is an Assistant Professor at the Massachusetts General Hospital Institute for Health Professions and affiliate faculty at the Roux Institute</a:t>
            </a:r>
          </a:p>
          <a:p>
            <a:r>
              <a:rPr lang="en-US" dirty="0"/>
              <a:t>Feedback:</a:t>
            </a:r>
          </a:p>
          <a:p>
            <a:pPr marL="468630" lvl="1" indent="-285750">
              <a:buFont typeface="Arial" panose="020B0604020202020204" pitchFamily="34" charset="0"/>
              <a:buChar char="•"/>
            </a:pPr>
            <a:r>
              <a:rPr lang="en-US" dirty="0"/>
              <a:t>Most of the feedback has generally been in helping us understand the project and data itself</a:t>
            </a:r>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2922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D7874D-6E8A-7480-4257-6E44074D57AD}"/>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 Access and instruction</a:t>
            </a:r>
          </a:p>
        </p:txBody>
      </p:sp>
      <p:sp>
        <p:nvSpPr>
          <p:cNvPr id="3" name="Content Placeholder 2">
            <a:extLst>
              <a:ext uri="{FF2B5EF4-FFF2-40B4-BE49-F238E27FC236}">
                <a16:creationId xmlns:a16="http://schemas.microsoft.com/office/drawing/2014/main" id="{78E3BE2C-4995-E1F0-D993-D95A720FAD29}"/>
              </a:ext>
            </a:extLst>
          </p:cNvPr>
          <p:cNvSpPr>
            <a:spLocks noGrp="1"/>
          </p:cNvSpPr>
          <p:nvPr>
            <p:ph idx="1"/>
          </p:nvPr>
        </p:nvSpPr>
        <p:spPr>
          <a:xfrm>
            <a:off x="758823" y="2607732"/>
            <a:ext cx="8925765" cy="3174357"/>
          </a:xfrm>
        </p:spPr>
        <p:txBody>
          <a:bodyPr>
            <a:normAutofit/>
          </a:bodyPr>
          <a:lstStyle/>
          <a:p>
            <a:r>
              <a:rPr lang="en-US" dirty="0"/>
              <a:t>Need to gain OHDSI clearance after completing </a:t>
            </a:r>
            <a:r>
              <a:rPr lang="en-US" dirty="0">
                <a:hlinkClick r:id="rId2"/>
              </a:rPr>
              <a:t>CITI</a:t>
            </a:r>
            <a:r>
              <a:rPr lang="en-US" dirty="0"/>
              <a:t> training to access the data to run the code</a:t>
            </a:r>
          </a:p>
          <a:p>
            <a:r>
              <a:rPr lang="en-US" dirty="0"/>
              <a:t>Instruction and how to recreate the results in </a:t>
            </a:r>
            <a:r>
              <a:rPr lang="en-US" dirty="0" err="1"/>
              <a:t>Github</a:t>
            </a:r>
            <a:r>
              <a:rPr lang="en-US" dirty="0"/>
              <a:t>: </a:t>
            </a:r>
            <a:r>
              <a:rPr lang="en-US" dirty="0">
                <a:hlinkClick r:id="rId3"/>
              </a:rPr>
              <a:t>https://github.com/ds5500/project-alex-riz-NE/tree/main</a:t>
            </a:r>
            <a:endParaRPr lang="en-US" dirty="0"/>
          </a:p>
          <a:p>
            <a:pPr marL="0" indent="0">
              <a:buNone/>
            </a:pPr>
            <a:endParaRPr lang="en-US" dirty="0"/>
          </a:p>
          <a:p>
            <a:endParaRPr lang="en-US" dirty="0"/>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75953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28" name="Freeform 6">
            <a:extLst>
              <a:ext uri="{FF2B5EF4-FFF2-40B4-BE49-F238E27FC236}">
                <a16:creationId xmlns:a16="http://schemas.microsoft.com/office/drawing/2014/main" id="{DD4C4B28-6B4B-4445-8535-F516D74E4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30" name="Straight Connector 29">
            <a:extLst>
              <a:ext uri="{FF2B5EF4-FFF2-40B4-BE49-F238E27FC236}">
                <a16:creationId xmlns:a16="http://schemas.microsoft.com/office/drawing/2014/main" id="{0CB1C732-7193-4253-8746-850D090A6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32" name="Rectangle 31">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009E94-FD14-62FF-40C7-8074A2BF0192}"/>
              </a:ext>
            </a:extLst>
          </p:cNvPr>
          <p:cNvSpPr>
            <a:spLocks noGrp="1"/>
          </p:cNvSpPr>
          <p:nvPr>
            <p:ph type="title"/>
          </p:nvPr>
        </p:nvSpPr>
        <p:spPr>
          <a:xfrm>
            <a:off x="476322" y="97067"/>
            <a:ext cx="4358472" cy="3730752"/>
          </a:xfrm>
        </p:spPr>
        <p:txBody>
          <a:bodyPr vert="horz" lIns="91440" tIns="45720" rIns="91440" bIns="45720" rtlCol="0" anchor="t">
            <a:normAutofit/>
          </a:bodyPr>
          <a:lstStyle/>
          <a:p>
            <a:r>
              <a:rPr lang="en-US" sz="7200" i="1" kern="1200" spc="100" baseline="0" dirty="0">
                <a:solidFill>
                  <a:schemeClr val="tx1">
                    <a:lumMod val="85000"/>
                    <a:lumOff val="15000"/>
                  </a:schemeClr>
                </a:solidFill>
                <a:latin typeface="+mj-lt"/>
                <a:ea typeface="+mj-ea"/>
                <a:cs typeface="+mj-cs"/>
              </a:rPr>
              <a:t>EDA</a:t>
            </a:r>
          </a:p>
        </p:txBody>
      </p:sp>
      <p:sp>
        <p:nvSpPr>
          <p:cNvPr id="16" name="Content Placeholder 15">
            <a:extLst>
              <a:ext uri="{FF2B5EF4-FFF2-40B4-BE49-F238E27FC236}">
                <a16:creationId xmlns:a16="http://schemas.microsoft.com/office/drawing/2014/main" id="{5FDC683E-555A-FF88-C052-ED67BADA756D}"/>
              </a:ext>
            </a:extLst>
          </p:cNvPr>
          <p:cNvSpPr>
            <a:spLocks noGrp="1"/>
          </p:cNvSpPr>
          <p:nvPr>
            <p:ph idx="1"/>
          </p:nvPr>
        </p:nvSpPr>
        <p:spPr>
          <a:xfrm>
            <a:off x="123029" y="6322420"/>
            <a:ext cx="7912607" cy="704088"/>
          </a:xfrm>
        </p:spPr>
        <p:txBody>
          <a:bodyPr vert="horz" lIns="91440" tIns="45720" rIns="91440" bIns="45720" rtlCol="0">
            <a:normAutofit/>
          </a:bodyPr>
          <a:lstStyle/>
          <a:p>
            <a:pPr marL="0" indent="0">
              <a:lnSpc>
                <a:spcPct val="100000"/>
              </a:lnSpc>
              <a:buNone/>
            </a:pPr>
            <a:r>
              <a:rPr lang="en-US"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Patients</a:t>
            </a:r>
            <a:r>
              <a:rPr lang="en-US" dirty="0">
                <a:latin typeface="Arial" panose="020B0604020202020204" pitchFamily="34" charset="0"/>
                <a:cs typeface="Arial" panose="020B0604020202020204" pitchFamily="34" charset="0"/>
              </a:rPr>
              <a:t> born before or during 1937 are all binned into one year.</a:t>
            </a:r>
          </a:p>
        </p:txBody>
      </p:sp>
      <p:cxnSp>
        <p:nvCxnSpPr>
          <p:cNvPr id="34" name="Straight Connector 33">
            <a:extLst>
              <a:ext uri="{FF2B5EF4-FFF2-40B4-BE49-F238E27FC236}">
                <a16:creationId xmlns:a16="http://schemas.microsoft.com/office/drawing/2014/main" id="{D81E42A3-743C-4C15-9DA8-93AA9AEBFB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143293"/>
            <a:ext cx="0" cy="5714707"/>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graph of a number of people&#10;&#10;AI-generated content may be incorrect.">
            <a:extLst>
              <a:ext uri="{FF2B5EF4-FFF2-40B4-BE49-F238E27FC236}">
                <a16:creationId xmlns:a16="http://schemas.microsoft.com/office/drawing/2014/main" id="{224A22E2-D65C-B414-6044-AD01DC3BF9DF}"/>
              </a:ext>
            </a:extLst>
          </p:cNvPr>
          <p:cNvPicPr>
            <a:picLocks noChangeAspect="1"/>
          </p:cNvPicPr>
          <p:nvPr/>
        </p:nvPicPr>
        <p:blipFill>
          <a:blip r:embed="rId3">
            <a:extLst>
              <a:ext uri="{28A0092B-C50C-407E-A947-70E740481C1C}">
                <a14:useLocalDpi xmlns:a14="http://schemas.microsoft.com/office/drawing/2010/main" val="0"/>
              </a:ext>
            </a:extLst>
          </a:blip>
          <a:srcRect l="66" r="24524" b="2"/>
          <a:stretch>
            <a:fillRect/>
          </a:stretch>
        </p:blipFill>
        <p:spPr>
          <a:xfrm>
            <a:off x="1041582" y="1552868"/>
            <a:ext cx="7711349" cy="4780509"/>
          </a:xfrm>
          <a:prstGeom prst="rect">
            <a:avLst/>
          </a:prstGeom>
        </p:spPr>
      </p:pic>
      <p:sp>
        <p:nvSpPr>
          <p:cNvPr id="36" name="Freeform 6">
            <a:extLst>
              <a:ext uri="{FF2B5EF4-FFF2-40B4-BE49-F238E27FC236}">
                <a16:creationId xmlns:a16="http://schemas.microsoft.com/office/drawing/2014/main" id="{7021D92D-08FF-45A6-9109-AC9462C7E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43293"/>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2482129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9" name="Freeform 6">
            <a:extLst>
              <a:ext uri="{FF2B5EF4-FFF2-40B4-BE49-F238E27FC236}">
                <a16:creationId xmlns:a16="http://schemas.microsoft.com/office/drawing/2014/main" id="{72411438-92A5-42B0-9C54-EA4FB32ACB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useBgFill="1">
        <p:nvSpPr>
          <p:cNvPr id="30" name="Rectangle 29">
            <a:extLst>
              <a:ext uri="{FF2B5EF4-FFF2-40B4-BE49-F238E27FC236}">
                <a16:creationId xmlns:a16="http://schemas.microsoft.com/office/drawing/2014/main" id="{5FCC6E86-7C37-4FD2-AF0B-C9BDDBC2B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aph of a number of people&#10;&#10;AI-generated content may be incorrect.">
            <a:extLst>
              <a:ext uri="{FF2B5EF4-FFF2-40B4-BE49-F238E27FC236}">
                <a16:creationId xmlns:a16="http://schemas.microsoft.com/office/drawing/2014/main" id="{35065D74-6EBC-764F-9B01-4CA71BC81FF5}"/>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r="16889" b="1"/>
          <a:stretch>
            <a:fillRect/>
          </a:stretch>
        </p:blipFill>
        <p:spPr>
          <a:xfrm>
            <a:off x="-1" y="1"/>
            <a:ext cx="12191998" cy="6857999"/>
          </a:xfrm>
          <a:prstGeom prst="rect">
            <a:avLst/>
          </a:prstGeom>
        </p:spPr>
      </p:pic>
      <p:sp>
        <p:nvSpPr>
          <p:cNvPr id="31" name="Freeform 6">
            <a:extLst>
              <a:ext uri="{FF2B5EF4-FFF2-40B4-BE49-F238E27FC236}">
                <a16:creationId xmlns:a16="http://schemas.microsoft.com/office/drawing/2014/main" id="{38C2FC07-A260-43C5-ABA2-A9DD5D5A83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Tree>
    <p:extLst>
      <p:ext uri="{BB962C8B-B14F-4D97-AF65-F5344CB8AC3E}">
        <p14:creationId xmlns:p14="http://schemas.microsoft.com/office/powerpoint/2010/main" val="3271497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72411438-92A5-42B0-9C54-EA4FB32ACB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useBgFill="1">
        <p:nvSpPr>
          <p:cNvPr id="12" name="Rectangle 11">
            <a:extLst>
              <a:ext uri="{FF2B5EF4-FFF2-40B4-BE49-F238E27FC236}">
                <a16:creationId xmlns:a16="http://schemas.microsoft.com/office/drawing/2014/main" id="{5FCC6E86-7C37-4FD2-AF0B-C9BDDBC2B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aph of a number of people&#10;&#10;AI-generated content may be incorrect.">
            <a:extLst>
              <a:ext uri="{FF2B5EF4-FFF2-40B4-BE49-F238E27FC236}">
                <a16:creationId xmlns:a16="http://schemas.microsoft.com/office/drawing/2014/main" id="{81C153C5-95D2-CCF6-F763-5BA7E7B3EA3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r="16889" b="1"/>
          <a:stretch>
            <a:fillRect/>
          </a:stretch>
        </p:blipFill>
        <p:spPr>
          <a:xfrm>
            <a:off x="-1" y="1"/>
            <a:ext cx="12191998" cy="6857999"/>
          </a:xfrm>
          <a:prstGeom prst="rect">
            <a:avLst/>
          </a:prstGeom>
        </p:spPr>
      </p:pic>
      <p:sp>
        <p:nvSpPr>
          <p:cNvPr id="14" name="Freeform 6">
            <a:extLst>
              <a:ext uri="{FF2B5EF4-FFF2-40B4-BE49-F238E27FC236}">
                <a16:creationId xmlns:a16="http://schemas.microsoft.com/office/drawing/2014/main" id="{38C2FC07-A260-43C5-ABA2-A9DD5D5A83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Tree>
    <p:extLst>
      <p:ext uri="{BB962C8B-B14F-4D97-AF65-F5344CB8AC3E}">
        <p14:creationId xmlns:p14="http://schemas.microsoft.com/office/powerpoint/2010/main" val="3448012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791F9A-2045-1819-A99B-38E57DE5DFE3}"/>
              </a:ext>
            </a:extLst>
          </p:cNvPr>
          <p:cNvSpPr>
            <a:spLocks noGrp="1"/>
          </p:cNvSpPr>
          <p:nvPr>
            <p:ph type="title"/>
          </p:nvPr>
        </p:nvSpPr>
        <p:spPr>
          <a:xfrm>
            <a:off x="758952" y="420625"/>
            <a:ext cx="10667998" cy="1326814"/>
          </a:xfrm>
        </p:spPr>
        <p:txBody>
          <a:bodyPr anchor="ctr">
            <a:normAutofit/>
          </a:bodyPr>
          <a:lstStyle/>
          <a:p>
            <a:r>
              <a:rPr lang="en-US"/>
              <a:t>Cohort</a:t>
            </a:r>
          </a:p>
        </p:txBody>
      </p:sp>
      <p:cxnSp>
        <p:nvCxnSpPr>
          <p:cNvPr id="21" name="Straight Connector 20">
            <a:extLst>
              <a:ext uri="{FF2B5EF4-FFF2-40B4-BE49-F238E27FC236}">
                <a16:creationId xmlns:a16="http://schemas.microsoft.com/office/drawing/2014/main" id="{4D5E13B1-3A31-47C7-8474-7A3DE60068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3888" y="1976039"/>
            <a:ext cx="1051560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screenshot of a computer&#10;&#10;AI-generated content may be incorrect.">
            <a:extLst>
              <a:ext uri="{FF2B5EF4-FFF2-40B4-BE49-F238E27FC236}">
                <a16:creationId xmlns:a16="http://schemas.microsoft.com/office/drawing/2014/main" id="{75C295CF-B64A-89E8-8765-0643ED0B94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752" y="2546117"/>
            <a:ext cx="4767514" cy="3408772"/>
          </a:xfrm>
          <a:prstGeom prst="rect">
            <a:avLst/>
          </a:prstGeom>
        </p:spPr>
      </p:pic>
      <p:pic>
        <p:nvPicPr>
          <p:cNvPr id="7" name="Picture 6" descr="A graph of patients by condition flag&#10;&#10;AI-generated content may be incorrect.">
            <a:extLst>
              <a:ext uri="{FF2B5EF4-FFF2-40B4-BE49-F238E27FC236}">
                <a16:creationId xmlns:a16="http://schemas.microsoft.com/office/drawing/2014/main" id="{EE71E2E2-366D-4FA8-8530-D3ABD0A197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24748" y="2247267"/>
            <a:ext cx="4565780" cy="4006472"/>
          </a:xfrm>
          <a:prstGeom prst="rect">
            <a:avLst/>
          </a:prstGeom>
        </p:spPr>
      </p:pic>
      <p:sp>
        <p:nvSpPr>
          <p:cNvPr id="23"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2975228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BA9A2-1CB5-C8B5-4A40-BBAEB45EB5E6}"/>
              </a:ext>
            </a:extLst>
          </p:cNvPr>
          <p:cNvSpPr>
            <a:spLocks noGrp="1"/>
          </p:cNvSpPr>
          <p:nvPr>
            <p:ph type="title"/>
          </p:nvPr>
        </p:nvSpPr>
        <p:spPr>
          <a:xfrm>
            <a:off x="7885744" y="691762"/>
            <a:ext cx="3541205" cy="1706649"/>
          </a:xfrm>
        </p:spPr>
        <p:txBody>
          <a:bodyPr anchor="ctr">
            <a:normAutofit/>
          </a:bodyPr>
          <a:lstStyle/>
          <a:p>
            <a:r>
              <a:rPr lang="en-US" sz="4800"/>
              <a:t>Co-occurence graph</a:t>
            </a:r>
          </a:p>
        </p:txBody>
      </p:sp>
      <p:pic>
        <p:nvPicPr>
          <p:cNvPr id="10" name="Content Placeholder 9" descr="A graph of a number of numbers&#10;&#10;AI-generated content may be incorrect.">
            <a:extLst>
              <a:ext uri="{FF2B5EF4-FFF2-40B4-BE49-F238E27FC236}">
                <a16:creationId xmlns:a16="http://schemas.microsoft.com/office/drawing/2014/main" id="{8E016BF2-584D-CD86-0FFB-791B06ACA3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953" y="714663"/>
            <a:ext cx="6301805" cy="5041444"/>
          </a:xfrm>
          <a:prstGeom prst="rect">
            <a:avLst/>
          </a:prstGeom>
        </p:spPr>
      </p:pic>
      <p:cxnSp>
        <p:nvCxnSpPr>
          <p:cNvPr id="25" name="Straight Connector 24">
            <a:extLst>
              <a:ext uri="{FF2B5EF4-FFF2-40B4-BE49-F238E27FC236}">
                <a16:creationId xmlns:a16="http://schemas.microsoft.com/office/drawing/2014/main" id="{61A0812C-8DCE-4CA2-904B-A5A5C12CA4F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2660" y="1005840"/>
            <a:ext cx="0" cy="58521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Content Placeholder 19">
            <a:extLst>
              <a:ext uri="{FF2B5EF4-FFF2-40B4-BE49-F238E27FC236}">
                <a16:creationId xmlns:a16="http://schemas.microsoft.com/office/drawing/2014/main" id="{B4D86C2F-D878-728C-D5A2-DF7A039C74E3}"/>
              </a:ext>
            </a:extLst>
          </p:cNvPr>
          <p:cNvSpPr>
            <a:spLocks noGrp="1"/>
          </p:cNvSpPr>
          <p:nvPr>
            <p:ph idx="1"/>
          </p:nvPr>
        </p:nvSpPr>
        <p:spPr>
          <a:xfrm>
            <a:off x="7888666" y="2623930"/>
            <a:ext cx="3541205" cy="3158160"/>
          </a:xfrm>
        </p:spPr>
        <p:txBody>
          <a:bodyPr>
            <a:normAutofit/>
          </a:bodyPr>
          <a:lstStyle/>
          <a:p>
            <a:endParaRPr lang="en-US"/>
          </a:p>
        </p:txBody>
      </p:sp>
      <p:sp>
        <p:nvSpPr>
          <p:cNvPr id="27"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58261012"/>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72411438-92A5-42B0-9C54-EA4FB32ACB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useBgFill="1">
        <p:nvSpPr>
          <p:cNvPr id="12" name="Rectangle 11">
            <a:extLst>
              <a:ext uri="{FF2B5EF4-FFF2-40B4-BE49-F238E27FC236}">
                <a16:creationId xmlns:a16="http://schemas.microsoft.com/office/drawing/2014/main" id="{5FCC6E86-7C37-4FD2-AF0B-C9BDDBC2B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54A98CF-5529-4F3E-A692-2CF1D51F3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0825122" cy="6858000"/>
          </a:xfrm>
          <a:custGeom>
            <a:avLst/>
            <a:gdLst>
              <a:gd name="connsiteX0" fmla="*/ 0 w 10825122"/>
              <a:gd name="connsiteY0" fmla="*/ 0 h 6858000"/>
              <a:gd name="connsiteX1" fmla="*/ 9969784 w 10825122"/>
              <a:gd name="connsiteY1" fmla="*/ 0 h 6858000"/>
              <a:gd name="connsiteX2" fmla="*/ 10105415 w 10825122"/>
              <a:gd name="connsiteY2" fmla="*/ 264816 h 6858000"/>
              <a:gd name="connsiteX3" fmla="*/ 10825122 w 10825122"/>
              <a:gd name="connsiteY3" fmla="*/ 3429000 h 6858000"/>
              <a:gd name="connsiteX4" fmla="*/ 10105415 w 10825122"/>
              <a:gd name="connsiteY4" fmla="*/ 6593184 h 6858000"/>
              <a:gd name="connsiteX5" fmla="*/ 9969784 w 10825122"/>
              <a:gd name="connsiteY5" fmla="*/ 6858000 h 6858000"/>
              <a:gd name="connsiteX6" fmla="*/ 0 w 1082512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22" h="6858000">
                <a:moveTo>
                  <a:pt x="0" y="0"/>
                </a:moveTo>
                <a:lnTo>
                  <a:pt x="9969784" y="0"/>
                </a:lnTo>
                <a:lnTo>
                  <a:pt x="10105415" y="264816"/>
                </a:lnTo>
                <a:cubicBezTo>
                  <a:pt x="10566647" y="1222029"/>
                  <a:pt x="10825122" y="2295330"/>
                  <a:pt x="10825122" y="3429000"/>
                </a:cubicBezTo>
                <a:cubicBezTo>
                  <a:pt x="10825122" y="4562671"/>
                  <a:pt x="10566647" y="5635971"/>
                  <a:pt x="10105415" y="6593184"/>
                </a:cubicBezTo>
                <a:lnTo>
                  <a:pt x="9969784"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descr="A diagram of a pie chart&#10;&#10;AI-generated content may be incorrect.">
            <a:extLst>
              <a:ext uri="{FF2B5EF4-FFF2-40B4-BE49-F238E27FC236}">
                <a16:creationId xmlns:a16="http://schemas.microsoft.com/office/drawing/2014/main" id="{FB79894C-51A1-C007-C219-C90326B284D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15676" y="788108"/>
            <a:ext cx="6796538" cy="4995456"/>
          </a:xfrm>
          <a:prstGeom prst="rect">
            <a:avLst/>
          </a:prstGeom>
        </p:spPr>
      </p:pic>
      <p:sp>
        <p:nvSpPr>
          <p:cNvPr id="16" name="Freeform 6">
            <a:extLst>
              <a:ext uri="{FF2B5EF4-FFF2-40B4-BE49-F238E27FC236}">
                <a16:creationId xmlns:a16="http://schemas.microsoft.com/office/drawing/2014/main" id="{38C2FC07-A260-43C5-ABA2-A9DD5D5A83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Tree>
    <p:extLst>
      <p:ext uri="{BB962C8B-B14F-4D97-AF65-F5344CB8AC3E}">
        <p14:creationId xmlns:p14="http://schemas.microsoft.com/office/powerpoint/2010/main" val="3667196618"/>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72411438-92A5-42B0-9C54-EA4FB32ACB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useBgFill="1">
        <p:nvSpPr>
          <p:cNvPr id="12" name="Rectangle 11">
            <a:extLst>
              <a:ext uri="{FF2B5EF4-FFF2-40B4-BE49-F238E27FC236}">
                <a16:creationId xmlns:a16="http://schemas.microsoft.com/office/drawing/2014/main" id="{5FCC6E86-7C37-4FD2-AF0B-C9BDDBC2B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54A98CF-5529-4F3E-A692-2CF1D51F3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0825122" cy="6858000"/>
          </a:xfrm>
          <a:custGeom>
            <a:avLst/>
            <a:gdLst>
              <a:gd name="connsiteX0" fmla="*/ 0 w 10825122"/>
              <a:gd name="connsiteY0" fmla="*/ 0 h 6858000"/>
              <a:gd name="connsiteX1" fmla="*/ 9969784 w 10825122"/>
              <a:gd name="connsiteY1" fmla="*/ 0 h 6858000"/>
              <a:gd name="connsiteX2" fmla="*/ 10105415 w 10825122"/>
              <a:gd name="connsiteY2" fmla="*/ 264816 h 6858000"/>
              <a:gd name="connsiteX3" fmla="*/ 10825122 w 10825122"/>
              <a:gd name="connsiteY3" fmla="*/ 3429000 h 6858000"/>
              <a:gd name="connsiteX4" fmla="*/ 10105415 w 10825122"/>
              <a:gd name="connsiteY4" fmla="*/ 6593184 h 6858000"/>
              <a:gd name="connsiteX5" fmla="*/ 9969784 w 10825122"/>
              <a:gd name="connsiteY5" fmla="*/ 6858000 h 6858000"/>
              <a:gd name="connsiteX6" fmla="*/ 0 w 1082512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22" h="6858000">
                <a:moveTo>
                  <a:pt x="0" y="0"/>
                </a:moveTo>
                <a:lnTo>
                  <a:pt x="9969784" y="0"/>
                </a:lnTo>
                <a:lnTo>
                  <a:pt x="10105415" y="264816"/>
                </a:lnTo>
                <a:cubicBezTo>
                  <a:pt x="10566647" y="1222029"/>
                  <a:pt x="10825122" y="2295330"/>
                  <a:pt x="10825122" y="3429000"/>
                </a:cubicBezTo>
                <a:cubicBezTo>
                  <a:pt x="10825122" y="4562671"/>
                  <a:pt x="10566647" y="5635971"/>
                  <a:pt x="10105415" y="6593184"/>
                </a:cubicBezTo>
                <a:lnTo>
                  <a:pt x="9969784"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descr="A close-up of a diagram&#10;&#10;AI-generated content may be incorrect.">
            <a:extLst>
              <a:ext uri="{FF2B5EF4-FFF2-40B4-BE49-F238E27FC236}">
                <a16:creationId xmlns:a16="http://schemas.microsoft.com/office/drawing/2014/main" id="{DF36E873-CC7F-7D5F-2075-2C6A722DB0A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88109" y="1559761"/>
            <a:ext cx="8851672" cy="3452150"/>
          </a:xfrm>
          <a:prstGeom prst="rect">
            <a:avLst/>
          </a:prstGeom>
        </p:spPr>
      </p:pic>
      <p:sp>
        <p:nvSpPr>
          <p:cNvPr id="16" name="Freeform 6">
            <a:extLst>
              <a:ext uri="{FF2B5EF4-FFF2-40B4-BE49-F238E27FC236}">
                <a16:creationId xmlns:a16="http://schemas.microsoft.com/office/drawing/2014/main" id="{38C2FC07-A260-43C5-ABA2-A9DD5D5A83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Tree>
    <p:extLst>
      <p:ext uri="{BB962C8B-B14F-4D97-AF65-F5344CB8AC3E}">
        <p14:creationId xmlns:p14="http://schemas.microsoft.com/office/powerpoint/2010/main" val="1790981141"/>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961035-E054-CFED-75A9-C6CCD4263439}"/>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Challenges</a:t>
            </a:r>
          </a:p>
        </p:txBody>
      </p:sp>
      <p:sp>
        <p:nvSpPr>
          <p:cNvPr id="3" name="Content Placeholder 2">
            <a:extLst>
              <a:ext uri="{FF2B5EF4-FFF2-40B4-BE49-F238E27FC236}">
                <a16:creationId xmlns:a16="http://schemas.microsoft.com/office/drawing/2014/main" id="{78796174-9147-2ED6-7B06-848C6C43E9C9}"/>
              </a:ext>
            </a:extLst>
          </p:cNvPr>
          <p:cNvSpPr>
            <a:spLocks noGrp="1"/>
          </p:cNvSpPr>
          <p:nvPr>
            <p:ph idx="1"/>
          </p:nvPr>
        </p:nvSpPr>
        <p:spPr>
          <a:xfrm>
            <a:off x="758824" y="2607732"/>
            <a:ext cx="8412480" cy="3174357"/>
          </a:xfrm>
        </p:spPr>
        <p:txBody>
          <a:bodyPr>
            <a:normAutofit/>
          </a:bodyPr>
          <a:lstStyle/>
          <a:p>
            <a:r>
              <a:rPr lang="en-US" dirty="0"/>
              <a:t>Patients born before or during 1937 are all binned into one year.</a:t>
            </a:r>
          </a:p>
          <a:p>
            <a:r>
              <a:rPr lang="en-US" dirty="0"/>
              <a:t>We lack a lot of Domain knowledge so there are some pauses in between meetings with Rob</a:t>
            </a:r>
          </a:p>
          <a:p>
            <a:pPr marL="468630" lvl="1" indent="-285750">
              <a:buFont typeface="Courier New" panose="02070309020205020404" pitchFamily="49" charset="0"/>
              <a:buChar char="o"/>
            </a:pPr>
            <a:r>
              <a:rPr lang="en-US" dirty="0"/>
              <a:t>Along with this, there is not a lot of literature about PIMS outside of elderly patients</a:t>
            </a:r>
          </a:p>
          <a:p>
            <a:r>
              <a:rPr lang="en-US" dirty="0"/>
              <a:t>There are many moving parts to this project which leads to very long SQL queries and a lot of tables. Can be confusing. </a:t>
            </a:r>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3615290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0AF48C-5873-D67B-71B3-1AF5658E77E2}"/>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Next Steps</a:t>
            </a:r>
          </a:p>
        </p:txBody>
      </p:sp>
      <p:sp>
        <p:nvSpPr>
          <p:cNvPr id="3" name="Content Placeholder 2">
            <a:extLst>
              <a:ext uri="{FF2B5EF4-FFF2-40B4-BE49-F238E27FC236}">
                <a16:creationId xmlns:a16="http://schemas.microsoft.com/office/drawing/2014/main" id="{BD7DE24A-59D6-15EB-368A-EACB224D5060}"/>
              </a:ext>
            </a:extLst>
          </p:cNvPr>
          <p:cNvSpPr>
            <a:spLocks noGrp="1"/>
          </p:cNvSpPr>
          <p:nvPr>
            <p:ph idx="1"/>
          </p:nvPr>
        </p:nvSpPr>
        <p:spPr>
          <a:xfrm>
            <a:off x="758824" y="2607732"/>
            <a:ext cx="8412480" cy="3174357"/>
          </a:xfrm>
        </p:spPr>
        <p:txBody>
          <a:bodyPr>
            <a:normAutofit/>
          </a:bodyPr>
          <a:lstStyle/>
          <a:p>
            <a:r>
              <a:rPr lang="en-US" dirty="0"/>
              <a:t>Verify the data and methodologies we made for our condition and polypharmacy flags.</a:t>
            </a:r>
          </a:p>
          <a:p>
            <a:r>
              <a:rPr lang="en-US" dirty="0"/>
              <a:t>Start looking into hospital readmissions after 30 and 90 days after their stroke</a:t>
            </a:r>
          </a:p>
          <a:p>
            <a:r>
              <a:rPr lang="en-US" dirty="0"/>
              <a:t>Come up with a model to identify a subgroup with the highest risk of PIMs. </a:t>
            </a:r>
          </a:p>
          <a:p>
            <a:pPr marL="0" indent="0">
              <a:buNone/>
            </a:pPr>
            <a:endParaRPr lang="en-US" dirty="0"/>
          </a:p>
          <a:p>
            <a:endParaRPr lang="en-US" dirty="0"/>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3889242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DD4C4B28-6B4B-4445-8535-F516D74E4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10" name="Straight Connector 9">
            <a:extLst>
              <a:ext uri="{FF2B5EF4-FFF2-40B4-BE49-F238E27FC236}">
                <a16:creationId xmlns:a16="http://schemas.microsoft.com/office/drawing/2014/main" id="{0CB1C732-7193-4253-8746-850D090A6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8BF26A-EB39-F2AC-94BF-130042E8530A}"/>
              </a:ext>
            </a:extLst>
          </p:cNvPr>
          <p:cNvSpPr>
            <a:spLocks noGrp="1"/>
          </p:cNvSpPr>
          <p:nvPr>
            <p:ph type="title"/>
          </p:nvPr>
        </p:nvSpPr>
        <p:spPr>
          <a:xfrm>
            <a:off x="1462016" y="788533"/>
            <a:ext cx="9267968" cy="2732687"/>
          </a:xfrm>
        </p:spPr>
        <p:txBody>
          <a:bodyPr vert="horz" lIns="91440" tIns="45720" rIns="91440" bIns="45720" rtlCol="0" anchor="b">
            <a:normAutofit/>
          </a:bodyPr>
          <a:lstStyle/>
          <a:p>
            <a:pPr algn="ctr"/>
            <a:r>
              <a:rPr lang="en-US" sz="7200" dirty="0"/>
              <a:t>Thank you for listening</a:t>
            </a:r>
          </a:p>
        </p:txBody>
      </p:sp>
      <p:cxnSp>
        <p:nvCxnSpPr>
          <p:cNvPr id="14" name="Straight Connector 13">
            <a:extLst>
              <a:ext uri="{FF2B5EF4-FFF2-40B4-BE49-F238E27FC236}">
                <a16:creationId xmlns:a16="http://schemas.microsoft.com/office/drawing/2014/main" id="{DE3FB7FD-3883-4AFF-8349-2E3BBDA714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3842963"/>
            <a:ext cx="7772400" cy="0"/>
          </a:xfrm>
          <a:prstGeom prst="line">
            <a:avLst/>
          </a:prstGeom>
          <a:ln w="1905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6" name="Freeform 6">
            <a:extLst>
              <a:ext uri="{FF2B5EF4-FFF2-40B4-BE49-F238E27FC236}">
                <a16:creationId xmlns:a16="http://schemas.microsoft.com/office/drawing/2014/main" id="{B3BE00DD-5F52-49B1-A83B-F2E555AC5D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125942288"/>
      </p:ext>
    </p:extLst>
  </p:cSld>
  <p:clrMapOvr>
    <a:masterClrMapping/>
  </p:clrMapOvr>
</p:sld>
</file>

<file path=ppt/theme/theme1.xml><?xml version="1.0" encoding="utf-8"?>
<a:theme xmlns:a="http://schemas.openxmlformats.org/drawingml/2006/main" name="HeadlinesVTI">
  <a:themeElements>
    <a:clrScheme name="Headlines">
      <a:dk1>
        <a:sysClr val="windowText" lastClr="000000"/>
      </a:dk1>
      <a:lt1>
        <a:sysClr val="window" lastClr="FFFFFF"/>
      </a:lt1>
      <a:dk2>
        <a:srgbClr val="232C41"/>
      </a:dk2>
      <a:lt2>
        <a:srgbClr val="F6F4EF"/>
      </a:lt2>
      <a:accent1>
        <a:srgbClr val="439EB7"/>
      </a:accent1>
      <a:accent2>
        <a:srgbClr val="E20E65"/>
      </a:accent2>
      <a:accent3>
        <a:srgbClr val="F59324"/>
      </a:accent3>
      <a:accent4>
        <a:srgbClr val="5046B9"/>
      </a:accent4>
      <a:accent5>
        <a:srgbClr val="5CB678"/>
      </a:accent5>
      <a:accent6>
        <a:srgbClr val="9717F7"/>
      </a:accent6>
      <a:hlink>
        <a:srgbClr val="E80095"/>
      </a:hlink>
      <a:folHlink>
        <a:srgbClr val="808080"/>
      </a:folHlink>
    </a:clrScheme>
    <a:fontScheme name="Custom 211">
      <a:majorFont>
        <a:latin typeface="Sitka Banner"/>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8000"/>
            <a:satMod val="170000"/>
          </a:schemeClr>
        </a:solidFill>
        <a:gradFill rotWithShape="1">
          <a:gsLst>
            <a:gs pos="0">
              <a:schemeClr val="phClr">
                <a:tint val="93000"/>
                <a:satMod val="16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VTI" id="{66EB4A02-0C0F-47F1-9F48-4E6882B9F967}" vid="{F3552358-4452-4FDA-9568-4F5DA32F7A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1165</TotalTime>
  <Words>1103</Words>
  <Application>Microsoft Macintosh PowerPoint</Application>
  <PresentationFormat>Widescreen</PresentationFormat>
  <Paragraphs>56</Paragraphs>
  <Slides>16</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Avenir Next LT Pro</vt:lpstr>
      <vt:lpstr>Courier New</vt:lpstr>
      <vt:lpstr>Sitka Banner</vt:lpstr>
      <vt:lpstr>HeadlinesVTI</vt:lpstr>
      <vt:lpstr>OHDSI STROKE The relationship between stroke and aphasia survivors, mental health conditons, potentially inappropriate medicine and polypharmacy </vt:lpstr>
      <vt:lpstr>Introduction</vt:lpstr>
      <vt:lpstr>Goal</vt:lpstr>
      <vt:lpstr>Data</vt:lpstr>
      <vt:lpstr>Stakeholder</vt:lpstr>
      <vt:lpstr> Access and instruction</vt:lpstr>
      <vt:lpstr>EDA</vt:lpstr>
      <vt:lpstr>PowerPoint Presentation</vt:lpstr>
      <vt:lpstr>PowerPoint Presentation</vt:lpstr>
      <vt:lpstr>Cohort</vt:lpstr>
      <vt:lpstr>Co-occurence graph</vt:lpstr>
      <vt:lpstr>PowerPoint Presentation</vt:lpstr>
      <vt:lpstr>PowerPoint Presentation</vt:lpstr>
      <vt:lpstr>Challenges</vt:lpstr>
      <vt:lpstr>Next Steps</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Thang Nguyen</dc:creator>
  <cp:lastModifiedBy>alex riz</cp:lastModifiedBy>
  <cp:revision>4</cp:revision>
  <dcterms:created xsi:type="dcterms:W3CDTF">2025-10-22T22:07:23Z</dcterms:created>
  <dcterms:modified xsi:type="dcterms:W3CDTF">2025-10-23T23:05:19Z</dcterms:modified>
</cp:coreProperties>
</file>